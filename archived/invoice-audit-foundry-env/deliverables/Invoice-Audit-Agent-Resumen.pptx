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14"/>
    <p:sldId id="264" r:id="rId15"/>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APERTURA. Menciona que esta demo corre en un tenant propio, 100% real — no es un mockup ni datos sintéticos. Resalta: 'Build, Observe, Tune' es el ciclo de vida completo de un agente en producción, y lo vamos a recorrer de principio a fin con un caso de uso real de auditoría de facturas. Pausa breve para presentarte y marcar el tiempo esperado (~20-25 min).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Da el mapa de los 6 pasos antes de entrar al detalle, para que el cliente sepa qué viene y no se pierda. Resalta que terminamos con un resultado cuantificado real (paso 6), no una demo abstracta — eso ancla la atención desde el inicio.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CASO DE USO. Cuenta el problema de negocio ANTES de mostrar el agente: el contrato MSA exige aprobación previa por escrito para horas extra, y hoy ese cruce se hace a mano. Resalta el hallazgo real: $8,342.25 en 227 horas sin aprobación, citando la Sección 3.2(c) del contrato — enfatiza que este número NO está inventado, salió de una ejecución real del agente que vamos a mostrar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BUILD &amp; GROUND. Si el tiempo lo permite, abre el Playground en vivo aquí (ver guion completo / cheat sheet para la URL exacta). Resalta 3 cosas: (1) el modelo desplegado, (2) las instrucciones del agente son texto en lenguaje natural, no código, (3) el conocimiento viene de documentos reales indexados — no hay alucinación ni contenido genérico de internet.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OBSERVE. Dos pantallas en una: Traces (trazabilidad) y Monitor (costo). Lanza la pregunta retórica: '¿de dónde salió este número?' y respóndela: aquí, en segundos, con el log completo paso a paso. Aclara que el costo mostrado ($0.32, 25.3K tokens) es de ESTA demo real, medido por Azure — no un estimado de folleto.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TUNE. El evaluador se genera por IA a partir de una instrucción en lenguaje natural — no es un checklist hardcodeado a mano. Resalta: 100% de las ejecuciones pasaron las 2 dimensiones de calidad, evaluadas sobre tráfico real, no datos sintéticos de prueba.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CIERRE. Repite las 3 palabras clave (Build, Observe, Tune) y refuerza que todo ocurrió dentro de Microsoft Foundry, sin exportar datos ni usar herramientas de terceros. Pausa aquí para preguntas. Si el cliente pregunta por seguridad/gobierno de agentes, ese es el gancho para pasar al Capítulo 3 (ver guion completo en el repo) — no está incluido en este deck de resumen.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VS. GA (nueva). Sé transparente proactivamente — mejor que lo digas tú a que el cliente lo descubra después. Mensaje clave: las piezas en Preview (Foundry IQ API, Insights/Workflows, Evaluations, creación manual de identidades, red teaming programado) no tienen SLA todavía y pueden cambiar antes de llegar a disponibilidad general — son perfectas para pilotar HOY, pero no para comprometer una fecha de producción firme sobre ellas. Todo lo demás (Playground, Traces, Monitor, Entra ID Agents, Defender for Cloud) ya es GA y estable. Si preguntan por fechas de GA, ofrece dar seguimiento en vez de prometer una fecha en el momento.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COSTO ESTIMADO (nueva). Divide la conversación en dos partes, sin mezclar lo seguro con lo incierto. Izquierda (blanco): el costo POR EJECUCIÓN que medimos nosotros mismos en los Traces de esta demo real — $0.012 promedio, proyectado a $0.60/mes con 50 facturas o $24/mes con 2,000. Esto es defendible: es Azure facturándonos a nosotros, no un número de catálogo. Derecha (navy): todo lo que depende del volumen o tier que el cliente elija (Azure AI Search, Application Insights, el plan 'AI' de Defender for Cloud) — aquí NO des un número exacto en la reunión. Ofrece armar la cotización juntos con la calculadora oficial de precios de Azure como siguiente paso, una vez que sepamos su volumen real esperado. Menciona que Defender for Cloud (plan AI) es gratis los primeros 30 días — ya lo estamos usando así en este tenant.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C6E"/>
        </a:solidFill>
      </p:bgPr>
    </p:bg>
    <p:spTree>
      <p:nvGrpSpPr>
        <p:cNvPr id="1" name=""/>
        <p:cNvGrpSpPr/>
        <p:nvPr/>
      </p:nvGrpSpPr>
      <p:grpSpPr>
        <a:xfrm>
          <a:off x="0" y="0"/>
          <a:ext cx="0" cy="0"/>
          <a:chOff x="0" y="0"/>
          <a:chExt cx="0" cy="0"/>
        </a:xfrm>
      </p:grpSpPr>
      <p:sp>
        <p:nvSpPr>
          <p:cNvPr id="2" name="Text 0"/>
          <p:cNvSpPr/>
          <p:nvPr/>
        </p:nvSpPr>
        <p:spPr>
          <a:xfrm>
            <a:off x="640080" y="685800"/>
            <a:ext cx="9144000" cy="365760"/>
          </a:xfrm>
          <a:prstGeom prst="rect">
            <a:avLst/>
          </a:prstGeom>
          <a:noFill/>
          <a:ln/>
        </p:spPr>
        <p:txBody>
          <a:bodyPr wrap="square" lIns="0" tIns="0" rIns="0" bIns="0" rtlCol="0" anchor="ctr"/>
          <a:lstStyle/>
          <a:p>
            <a:pPr indent="0" marL="0">
              <a:buNone/>
            </a:pPr>
            <a:r>
              <a:rPr lang="en-US" sz="1200" spc="200" kern="0" dirty="0">
                <a:solidFill>
                  <a:srgbClr val="5CC6F5"/>
                </a:solidFill>
                <a:latin typeface="Segoe UI" pitchFamily="34" charset="0"/>
                <a:ea typeface="Segoe UI" pitchFamily="34" charset="-122"/>
                <a:cs typeface="Segoe UI" pitchFamily="34" charset="-120"/>
              </a:rPr>
              <a:t>CAPÍTULO 2 · BUILD, OBSERVE &amp; TUNE</a:t>
            </a:r>
            <a:endParaRPr lang="en-US" sz="1200" dirty="0"/>
          </a:p>
        </p:txBody>
      </p:sp>
      <p:sp>
        <p:nvSpPr>
          <p:cNvPr id="3" name="Text 1"/>
          <p:cNvSpPr/>
          <p:nvPr/>
        </p:nvSpPr>
        <p:spPr>
          <a:xfrm>
            <a:off x="640080" y="2103120"/>
            <a:ext cx="10515600" cy="2011680"/>
          </a:xfrm>
          <a:prstGeom prst="rect">
            <a:avLst/>
          </a:prstGeom>
          <a:noFill/>
          <a:ln/>
        </p:spPr>
        <p:txBody>
          <a:bodyPr wrap="square" lIns="0" tIns="0" rIns="0" bIns="0" rtlCol="0" anchor="ctr"/>
          <a:lstStyle/>
          <a:p>
            <a:pPr indent="0" marL="0">
              <a:lnSpc>
                <a:spcPct val="110000"/>
              </a:lnSpc>
              <a:buNone/>
            </a:pPr>
            <a:r>
              <a:rPr lang="en-US" sz="4600" b="1" dirty="0">
                <a:solidFill>
                  <a:srgbClr val="FFFFFF"/>
                </a:solidFill>
                <a:latin typeface="Segoe UI" pitchFamily="34" charset="0"/>
                <a:ea typeface="Segoe UI" pitchFamily="34" charset="-122"/>
                <a:cs typeface="Segoe UI" pitchFamily="34" charset="-120"/>
              </a:rPr>
              <a:t>Invoice Audit Agent</a:t>
            </a:r>
            <a:endParaRPr lang="en-US" sz="4600" dirty="0"/>
          </a:p>
          <a:p>
            <a:pPr indent="0" marL="0">
              <a:lnSpc>
                <a:spcPct val="110000"/>
              </a:lnSpc>
              <a:buNone/>
            </a:pPr>
            <a:r>
              <a:rPr lang="en-US" sz="2000" b="1" dirty="0">
                <a:solidFill>
                  <a:srgbClr val="CFE3FA"/>
                </a:solidFill>
                <a:latin typeface="Segoe UI" pitchFamily="34" charset="0"/>
                <a:ea typeface="Segoe UI" pitchFamily="34" charset="-122"/>
                <a:cs typeface="Segoe UI" pitchFamily="34" charset="-120"/>
              </a:rPr>
              <a:t>El ciclo de vida completo de un agente de IA en producción</a:t>
            </a:r>
            <a:endParaRPr lang="en-US" sz="4600" dirty="0"/>
          </a:p>
        </p:txBody>
      </p:sp>
      <p:sp>
        <p:nvSpPr>
          <p:cNvPr id="4" name="Shape 2"/>
          <p:cNvSpPr/>
          <p:nvPr/>
        </p:nvSpPr>
        <p:spPr>
          <a:xfrm>
            <a:off x="640080" y="4343400"/>
            <a:ext cx="2011680" cy="0"/>
          </a:xfrm>
          <a:prstGeom prst="line">
            <a:avLst/>
          </a:prstGeom>
          <a:noFill/>
          <a:ln w="38100">
            <a:solidFill>
              <a:srgbClr val="00BBC3"/>
            </a:solidFill>
            <a:prstDash val="solid"/>
          </a:ln>
        </p:spPr>
      </p:sp>
      <p:sp>
        <p:nvSpPr>
          <p:cNvPr id="5" name="Text 3"/>
          <p:cNvSpPr/>
          <p:nvPr/>
        </p:nvSpPr>
        <p:spPr>
          <a:xfrm>
            <a:off x="640080" y="4572000"/>
            <a:ext cx="9144000" cy="457200"/>
          </a:xfrm>
          <a:prstGeom prst="rect">
            <a:avLst/>
          </a:prstGeom>
          <a:noFill/>
          <a:ln/>
        </p:spPr>
        <p:txBody>
          <a:bodyPr wrap="square" lIns="0" tIns="0" rIns="0" bIns="0" rtlCol="0" anchor="ctr"/>
          <a:lstStyle/>
          <a:p>
            <a:pPr indent="0" marL="0">
              <a:buNone/>
            </a:pPr>
            <a:r>
              <a:rPr lang="en-US" sz="1600" i="1" dirty="0">
                <a:solidFill>
                  <a:srgbClr val="CFE3FA"/>
                </a:solidFill>
                <a:latin typeface="Segoe UI" pitchFamily="34" charset="0"/>
                <a:ea typeface="Segoe UI" pitchFamily="34" charset="-122"/>
                <a:cs typeface="Segoe UI" pitchFamily="34" charset="-120"/>
              </a:rPr>
              <a:t>Construir · Fundamentar (ground) · Observar · Ajustar — todo dentro de Microsoft Foundry</a:t>
            </a:r>
            <a:endParaRPr lang="en-US" sz="1600" dirty="0"/>
          </a:p>
        </p:txBody>
      </p:sp>
      <p:sp>
        <p:nvSpPr>
          <p:cNvPr id="6" name="Text 4"/>
          <p:cNvSpPr/>
          <p:nvPr/>
        </p:nvSpPr>
        <p:spPr>
          <a:xfrm>
            <a:off x="640080" y="6263640"/>
            <a:ext cx="9144000" cy="320040"/>
          </a:xfrm>
          <a:prstGeom prst="rect">
            <a:avLst/>
          </a:prstGeom>
          <a:noFill/>
          <a:ln/>
        </p:spPr>
        <p:txBody>
          <a:bodyPr wrap="square" lIns="0" tIns="0" rIns="0" bIns="0" rtlCol="0" anchor="ctr"/>
          <a:lstStyle/>
          <a:p>
            <a:pPr indent="0" marL="0">
              <a:buNone/>
            </a:pPr>
            <a:r>
              <a:rPr lang="en-US" sz="1100" dirty="0">
                <a:solidFill>
                  <a:srgbClr val="7FA8D9"/>
                </a:solidFill>
                <a:latin typeface="Segoe UI" pitchFamily="34" charset="0"/>
                <a:ea typeface="Segoe UI" pitchFamily="34" charset="-122"/>
                <a:cs typeface="Segoe UI" pitchFamily="34" charset="-120"/>
              </a:rPr>
              <a:t>Ambiente desplegado en tenant propio · Microsoft Foundry · Octubre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lIns="0" tIns="0" rIns="0" bIns="0" rtlCol="0" anchor="ctr"/>
          <a:lstStyle/>
          <a:p>
            <a:pPr indent="0" marL="0">
              <a:buNone/>
            </a:pPr>
            <a:r>
              <a:rPr lang="en-US" sz="1100" spc="100" kern="0" dirty="0">
                <a:solidFill>
                  <a:srgbClr val="0078D4"/>
                </a:solidFill>
                <a:latin typeface="Segoe UI" pitchFamily="34" charset="0"/>
                <a:ea typeface="Segoe UI" pitchFamily="34" charset="-122"/>
                <a:cs typeface="Segoe UI" pitchFamily="34" charset="-120"/>
              </a:rPr>
              <a:t>AGENDA DE LA DEMO</a:t>
            </a:r>
            <a:endParaRPr lang="en-US" sz="1100" dirty="0"/>
          </a:p>
        </p:txBody>
      </p:sp>
      <p:sp>
        <p:nvSpPr>
          <p:cNvPr id="3" name="Text 1"/>
          <p:cNvSpPr/>
          <p:nvPr/>
        </p:nvSpPr>
        <p:spPr>
          <a:xfrm>
            <a:off x="548640" y="777240"/>
            <a:ext cx="9144000" cy="640080"/>
          </a:xfrm>
          <a:prstGeom prst="rect">
            <a:avLst/>
          </a:prstGeom>
          <a:noFill/>
          <a:ln/>
        </p:spPr>
        <p:txBody>
          <a:bodyPr wrap="square" lIns="0" tIns="0" rIns="0" bIns="0" rtlCol="0" anchor="ctr"/>
          <a:lstStyle/>
          <a:p>
            <a:pPr indent="0" marL="0">
              <a:buNone/>
            </a:pPr>
            <a:r>
              <a:rPr lang="en-US" sz="3200" b="1" dirty="0">
                <a:solidFill>
                  <a:srgbClr val="0A2C6E"/>
                </a:solidFill>
                <a:latin typeface="Segoe UI" pitchFamily="34" charset="0"/>
                <a:ea typeface="Segoe UI" pitchFamily="34" charset="-122"/>
                <a:cs typeface="Segoe UI" pitchFamily="34" charset="-120"/>
              </a:rPr>
              <a:t>Qué vamos a ver hoy</a:t>
            </a:r>
            <a:endParaRPr lang="en-US" sz="3200" dirty="0"/>
          </a:p>
        </p:txBody>
      </p:sp>
      <p:sp>
        <p:nvSpPr>
          <p:cNvPr id="4" name="Text 2"/>
          <p:cNvSpPr/>
          <p:nvPr/>
        </p:nvSpPr>
        <p:spPr>
          <a:xfrm>
            <a:off x="548640" y="1371600"/>
            <a:ext cx="9601200" cy="457200"/>
          </a:xfrm>
          <a:prstGeom prst="rect">
            <a:avLst/>
          </a:prstGeom>
          <a:noFill/>
          <a:ln/>
        </p:spPr>
        <p:txBody>
          <a:bodyPr wrap="square" lIns="0" tIns="0" rIns="0" bIns="0" rtlCol="0" anchor="ctr"/>
          <a:lstStyle/>
          <a:p>
            <a:pPr indent="0" marL="0">
              <a:buNone/>
            </a:pPr>
            <a:r>
              <a:rPr lang="en-US" sz="1600" dirty="0">
                <a:solidFill>
                  <a:srgbClr val="404040"/>
                </a:solidFill>
                <a:latin typeface="Segoe UI" pitchFamily="34" charset="0"/>
                <a:ea typeface="Segoe UI" pitchFamily="34" charset="-122"/>
                <a:cs typeface="Segoe UI" pitchFamily="34" charset="-120"/>
              </a:rPr>
              <a:t>Un recorrido de extremo a extremo por el ciclo de vida de un agente de producción</a:t>
            </a:r>
            <a:endParaRPr lang="en-US" sz="1600" dirty="0"/>
          </a:p>
        </p:txBody>
      </p:sp>
      <p:sp>
        <p:nvSpPr>
          <p:cNvPr id="5" name="Shape 3"/>
          <p:cNvSpPr/>
          <p:nvPr/>
        </p:nvSpPr>
        <p:spPr>
          <a:xfrm>
            <a:off x="548640" y="2148840"/>
            <a:ext cx="3429000" cy="1783080"/>
          </a:xfrm>
          <a:prstGeom prst="roundRect">
            <a:avLst>
              <a:gd name="adj" fmla="val 3077"/>
            </a:avLst>
          </a:prstGeom>
          <a:solidFill>
            <a:srgbClr val="F5F8FC"/>
          </a:solidFill>
          <a:ln w="12700">
            <a:solidFill>
              <a:srgbClr val="E3E9F2"/>
            </a:solidFill>
            <a:prstDash val="solid"/>
          </a:ln>
        </p:spPr>
      </p:sp>
      <p:sp>
        <p:nvSpPr>
          <p:cNvPr id="6" name="Shape 4"/>
          <p:cNvSpPr/>
          <p:nvPr/>
        </p:nvSpPr>
        <p:spPr>
          <a:xfrm>
            <a:off x="777240" y="2377440"/>
            <a:ext cx="457200" cy="457200"/>
          </a:xfrm>
          <a:prstGeom prst="ellipse">
            <a:avLst/>
          </a:prstGeom>
          <a:solidFill>
            <a:srgbClr val="0078D4"/>
          </a:solidFill>
          <a:ln/>
        </p:spPr>
      </p:sp>
      <p:sp>
        <p:nvSpPr>
          <p:cNvPr id="7" name="Text 5"/>
          <p:cNvSpPr/>
          <p:nvPr/>
        </p:nvSpPr>
        <p:spPr>
          <a:xfrm>
            <a:off x="777240" y="2377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8" name="Text 6"/>
          <p:cNvSpPr/>
          <p:nvPr/>
        </p:nvSpPr>
        <p:spPr>
          <a:xfrm>
            <a:off x="1371600" y="2350008"/>
            <a:ext cx="2423160" cy="457200"/>
          </a:xfrm>
          <a:prstGeom prst="rect">
            <a:avLst/>
          </a:prstGeom>
          <a:noFill/>
          <a:ln/>
        </p:spPr>
        <p:txBody>
          <a:bodyPr wrap="square" lIns="0" tIns="0" rIns="0" bIns="0" rtlCol="0" anchor="ctr"/>
          <a:lstStyle/>
          <a:p>
            <a:pPr indent="0" marL="0">
              <a:buNone/>
            </a:pPr>
            <a:r>
              <a:rPr lang="en-US" sz="1500" b="1" dirty="0">
                <a:solidFill>
                  <a:srgbClr val="1A1A1A"/>
                </a:solidFill>
                <a:latin typeface="Segoe UI" pitchFamily="34" charset="0"/>
                <a:ea typeface="Segoe UI" pitchFamily="34" charset="-122"/>
                <a:cs typeface="Segoe UI" pitchFamily="34" charset="-120"/>
              </a:rPr>
              <a:t>Build</a:t>
            </a:r>
            <a:endParaRPr lang="en-US" sz="1500" dirty="0"/>
          </a:p>
        </p:txBody>
      </p:sp>
      <p:sp>
        <p:nvSpPr>
          <p:cNvPr id="9" name="Text 7"/>
          <p:cNvSpPr/>
          <p:nvPr/>
        </p:nvSpPr>
        <p:spPr>
          <a:xfrm>
            <a:off x="777240" y="2926080"/>
            <a:ext cx="2971800" cy="868680"/>
          </a:xfrm>
          <a:prstGeom prst="rect">
            <a:avLst/>
          </a:prstGeom>
          <a:noFill/>
          <a:ln/>
        </p:spPr>
        <p:txBody>
          <a:bodyPr wrap="square" lIns="0" tIns="0" rIns="0" bIns="0" rtlCol="0" anchor="t"/>
          <a:lstStyle/>
          <a:p>
            <a:pPr indent="0" marL="0">
              <a:buNone/>
            </a:pPr>
            <a:r>
              <a:rPr lang="en-US" sz="1150" dirty="0">
                <a:solidFill>
                  <a:srgbClr val="404040"/>
                </a:solidFill>
                <a:latin typeface="Segoe UI" pitchFamily="34" charset="0"/>
                <a:ea typeface="Segoe UI" pitchFamily="34" charset="-122"/>
                <a:cs typeface="Segoe UI" pitchFamily="34" charset="-120"/>
              </a:rPr>
              <a:t>Construir el agente: modelo, instrucciones y conocimiento empresarial conectado.</a:t>
            </a:r>
            <a:endParaRPr lang="en-US" sz="1150" dirty="0"/>
          </a:p>
        </p:txBody>
      </p:sp>
      <p:sp>
        <p:nvSpPr>
          <p:cNvPr id="10" name="Shape 8"/>
          <p:cNvSpPr/>
          <p:nvPr/>
        </p:nvSpPr>
        <p:spPr>
          <a:xfrm>
            <a:off x="4206240" y="2148840"/>
            <a:ext cx="3429000" cy="1783080"/>
          </a:xfrm>
          <a:prstGeom prst="roundRect">
            <a:avLst>
              <a:gd name="adj" fmla="val 3077"/>
            </a:avLst>
          </a:prstGeom>
          <a:solidFill>
            <a:srgbClr val="F5F8FC"/>
          </a:solidFill>
          <a:ln w="12700">
            <a:solidFill>
              <a:srgbClr val="E3E9F2"/>
            </a:solidFill>
            <a:prstDash val="solid"/>
          </a:ln>
        </p:spPr>
      </p:sp>
      <p:sp>
        <p:nvSpPr>
          <p:cNvPr id="11" name="Shape 9"/>
          <p:cNvSpPr/>
          <p:nvPr/>
        </p:nvSpPr>
        <p:spPr>
          <a:xfrm>
            <a:off x="4434840" y="2377440"/>
            <a:ext cx="457200" cy="457200"/>
          </a:xfrm>
          <a:prstGeom prst="ellipse">
            <a:avLst/>
          </a:prstGeom>
          <a:solidFill>
            <a:srgbClr val="0078D4"/>
          </a:solidFill>
          <a:ln/>
        </p:spPr>
      </p:sp>
      <p:sp>
        <p:nvSpPr>
          <p:cNvPr id="12" name="Text 10"/>
          <p:cNvSpPr/>
          <p:nvPr/>
        </p:nvSpPr>
        <p:spPr>
          <a:xfrm>
            <a:off x="4434840" y="2377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3" name="Text 11"/>
          <p:cNvSpPr/>
          <p:nvPr/>
        </p:nvSpPr>
        <p:spPr>
          <a:xfrm>
            <a:off x="5029200" y="2350008"/>
            <a:ext cx="2423160" cy="457200"/>
          </a:xfrm>
          <a:prstGeom prst="rect">
            <a:avLst/>
          </a:prstGeom>
          <a:noFill/>
          <a:ln/>
        </p:spPr>
        <p:txBody>
          <a:bodyPr wrap="square" lIns="0" tIns="0" rIns="0" bIns="0" rtlCol="0" anchor="ctr"/>
          <a:lstStyle/>
          <a:p>
            <a:pPr indent="0" marL="0">
              <a:buNone/>
            </a:pPr>
            <a:r>
              <a:rPr lang="en-US" sz="1500" b="1" dirty="0">
                <a:solidFill>
                  <a:srgbClr val="1A1A1A"/>
                </a:solidFill>
                <a:latin typeface="Segoe UI" pitchFamily="34" charset="0"/>
                <a:ea typeface="Segoe UI" pitchFamily="34" charset="-122"/>
                <a:cs typeface="Segoe UI" pitchFamily="34" charset="-120"/>
              </a:rPr>
              <a:t>Ground</a:t>
            </a:r>
            <a:endParaRPr lang="en-US" sz="1500" dirty="0"/>
          </a:p>
        </p:txBody>
      </p:sp>
      <p:sp>
        <p:nvSpPr>
          <p:cNvPr id="14" name="Text 12"/>
          <p:cNvSpPr/>
          <p:nvPr/>
        </p:nvSpPr>
        <p:spPr>
          <a:xfrm>
            <a:off x="4434840" y="2926080"/>
            <a:ext cx="2971800" cy="868680"/>
          </a:xfrm>
          <a:prstGeom prst="rect">
            <a:avLst/>
          </a:prstGeom>
          <a:noFill/>
          <a:ln/>
        </p:spPr>
        <p:txBody>
          <a:bodyPr wrap="square" lIns="0" tIns="0" rIns="0" bIns="0" rtlCol="0" anchor="t"/>
          <a:lstStyle/>
          <a:p>
            <a:pPr indent="0" marL="0">
              <a:buNone/>
            </a:pPr>
            <a:r>
              <a:rPr lang="en-US" sz="1150" dirty="0">
                <a:solidFill>
                  <a:srgbClr val="404040"/>
                </a:solidFill>
                <a:latin typeface="Segoe UI" pitchFamily="34" charset="0"/>
                <a:ea typeface="Segoe UI" pitchFamily="34" charset="-122"/>
                <a:cs typeface="Segoe UI" pitchFamily="34" charset="-120"/>
              </a:rPr>
              <a:t>Fundamentar las respuestas en documentos reales vía Foundry IQ (Azure AI Search).</a:t>
            </a:r>
            <a:endParaRPr lang="en-US" sz="1150" dirty="0"/>
          </a:p>
        </p:txBody>
      </p:sp>
      <p:sp>
        <p:nvSpPr>
          <p:cNvPr id="15" name="Shape 13"/>
          <p:cNvSpPr/>
          <p:nvPr/>
        </p:nvSpPr>
        <p:spPr>
          <a:xfrm>
            <a:off x="7863840" y="2148840"/>
            <a:ext cx="3429000" cy="1783080"/>
          </a:xfrm>
          <a:prstGeom prst="roundRect">
            <a:avLst>
              <a:gd name="adj" fmla="val 3077"/>
            </a:avLst>
          </a:prstGeom>
          <a:solidFill>
            <a:srgbClr val="F5F8FC"/>
          </a:solidFill>
          <a:ln w="12700">
            <a:solidFill>
              <a:srgbClr val="E3E9F2"/>
            </a:solidFill>
            <a:prstDash val="solid"/>
          </a:ln>
        </p:spPr>
      </p:sp>
      <p:sp>
        <p:nvSpPr>
          <p:cNvPr id="16" name="Shape 14"/>
          <p:cNvSpPr/>
          <p:nvPr/>
        </p:nvSpPr>
        <p:spPr>
          <a:xfrm>
            <a:off x="8092440" y="2377440"/>
            <a:ext cx="457200" cy="457200"/>
          </a:xfrm>
          <a:prstGeom prst="ellipse">
            <a:avLst/>
          </a:prstGeom>
          <a:solidFill>
            <a:srgbClr val="0078D4"/>
          </a:solidFill>
          <a:ln/>
        </p:spPr>
      </p:sp>
      <p:sp>
        <p:nvSpPr>
          <p:cNvPr id="17" name="Text 15"/>
          <p:cNvSpPr/>
          <p:nvPr/>
        </p:nvSpPr>
        <p:spPr>
          <a:xfrm>
            <a:off x="8092440" y="2377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8" name="Text 16"/>
          <p:cNvSpPr/>
          <p:nvPr/>
        </p:nvSpPr>
        <p:spPr>
          <a:xfrm>
            <a:off x="8686800" y="2350008"/>
            <a:ext cx="2423160" cy="457200"/>
          </a:xfrm>
          <a:prstGeom prst="rect">
            <a:avLst/>
          </a:prstGeom>
          <a:noFill/>
          <a:ln/>
        </p:spPr>
        <p:txBody>
          <a:bodyPr wrap="square" lIns="0" tIns="0" rIns="0" bIns="0" rtlCol="0" anchor="ctr"/>
          <a:lstStyle/>
          <a:p>
            <a:pPr indent="0" marL="0">
              <a:buNone/>
            </a:pPr>
            <a:r>
              <a:rPr lang="en-US" sz="1500" b="1" dirty="0">
                <a:solidFill>
                  <a:srgbClr val="1A1A1A"/>
                </a:solidFill>
                <a:latin typeface="Segoe UI" pitchFamily="34" charset="0"/>
                <a:ea typeface="Segoe UI" pitchFamily="34" charset="-122"/>
                <a:cs typeface="Segoe UI" pitchFamily="34" charset="-120"/>
              </a:rPr>
              <a:t>Observe · Traces</a:t>
            </a:r>
            <a:endParaRPr lang="en-US" sz="1500" dirty="0"/>
          </a:p>
        </p:txBody>
      </p:sp>
      <p:sp>
        <p:nvSpPr>
          <p:cNvPr id="19" name="Text 17"/>
          <p:cNvSpPr/>
          <p:nvPr/>
        </p:nvSpPr>
        <p:spPr>
          <a:xfrm>
            <a:off x="8092440" y="2926080"/>
            <a:ext cx="2971800" cy="868680"/>
          </a:xfrm>
          <a:prstGeom prst="rect">
            <a:avLst/>
          </a:prstGeom>
          <a:noFill/>
          <a:ln/>
        </p:spPr>
        <p:txBody>
          <a:bodyPr wrap="square" lIns="0" tIns="0" rIns="0" bIns="0" rtlCol="0" anchor="t"/>
          <a:lstStyle/>
          <a:p>
            <a:pPr indent="0" marL="0">
              <a:buNone/>
            </a:pPr>
            <a:r>
              <a:rPr lang="en-US" sz="1150" dirty="0">
                <a:solidFill>
                  <a:srgbClr val="404040"/>
                </a:solidFill>
                <a:latin typeface="Segoe UI" pitchFamily="34" charset="0"/>
                <a:ea typeface="Segoe UI" pitchFamily="34" charset="-122"/>
                <a:cs typeface="Segoe UI" pitchFamily="34" charset="-120"/>
              </a:rPr>
              <a:t>Trazabilidad paso a paso de cada respuesta: qué se consultó y por qué.</a:t>
            </a:r>
            <a:endParaRPr lang="en-US" sz="1150" dirty="0"/>
          </a:p>
        </p:txBody>
      </p:sp>
      <p:sp>
        <p:nvSpPr>
          <p:cNvPr id="20" name="Shape 18"/>
          <p:cNvSpPr/>
          <p:nvPr/>
        </p:nvSpPr>
        <p:spPr>
          <a:xfrm>
            <a:off x="548640" y="4160520"/>
            <a:ext cx="3429000" cy="1783080"/>
          </a:xfrm>
          <a:prstGeom prst="roundRect">
            <a:avLst>
              <a:gd name="adj" fmla="val 3077"/>
            </a:avLst>
          </a:prstGeom>
          <a:solidFill>
            <a:srgbClr val="F5F8FC"/>
          </a:solidFill>
          <a:ln w="12700">
            <a:solidFill>
              <a:srgbClr val="E3E9F2"/>
            </a:solidFill>
            <a:prstDash val="solid"/>
          </a:ln>
        </p:spPr>
      </p:sp>
      <p:sp>
        <p:nvSpPr>
          <p:cNvPr id="21" name="Shape 19"/>
          <p:cNvSpPr/>
          <p:nvPr/>
        </p:nvSpPr>
        <p:spPr>
          <a:xfrm>
            <a:off x="777240" y="4389120"/>
            <a:ext cx="457200" cy="457200"/>
          </a:xfrm>
          <a:prstGeom prst="ellipse">
            <a:avLst/>
          </a:prstGeom>
          <a:solidFill>
            <a:srgbClr val="0078D4"/>
          </a:solidFill>
          <a:ln/>
        </p:spPr>
      </p:sp>
      <p:sp>
        <p:nvSpPr>
          <p:cNvPr id="22" name="Text 20"/>
          <p:cNvSpPr/>
          <p:nvPr/>
        </p:nvSpPr>
        <p:spPr>
          <a:xfrm>
            <a:off x="777240" y="4389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4</a:t>
            </a:r>
            <a:endParaRPr lang="en-US" sz="1800" dirty="0"/>
          </a:p>
        </p:txBody>
      </p:sp>
      <p:sp>
        <p:nvSpPr>
          <p:cNvPr id="23" name="Text 21"/>
          <p:cNvSpPr/>
          <p:nvPr/>
        </p:nvSpPr>
        <p:spPr>
          <a:xfrm>
            <a:off x="1371600" y="4361688"/>
            <a:ext cx="2423160" cy="457200"/>
          </a:xfrm>
          <a:prstGeom prst="rect">
            <a:avLst/>
          </a:prstGeom>
          <a:noFill/>
          <a:ln/>
        </p:spPr>
        <p:txBody>
          <a:bodyPr wrap="square" lIns="0" tIns="0" rIns="0" bIns="0" rtlCol="0" anchor="ctr"/>
          <a:lstStyle/>
          <a:p>
            <a:pPr indent="0" marL="0">
              <a:buNone/>
            </a:pPr>
            <a:r>
              <a:rPr lang="en-US" sz="1500" b="1" dirty="0">
                <a:solidFill>
                  <a:srgbClr val="1A1A1A"/>
                </a:solidFill>
                <a:latin typeface="Segoe UI" pitchFamily="34" charset="0"/>
                <a:ea typeface="Segoe UI" pitchFamily="34" charset="-122"/>
                <a:cs typeface="Segoe UI" pitchFamily="34" charset="-120"/>
              </a:rPr>
              <a:t>Observe · Monitor</a:t>
            </a:r>
            <a:endParaRPr lang="en-US" sz="1500" dirty="0"/>
          </a:p>
        </p:txBody>
      </p:sp>
      <p:sp>
        <p:nvSpPr>
          <p:cNvPr id="24" name="Text 22"/>
          <p:cNvSpPr/>
          <p:nvPr/>
        </p:nvSpPr>
        <p:spPr>
          <a:xfrm>
            <a:off x="777240" y="4937760"/>
            <a:ext cx="2971800" cy="868680"/>
          </a:xfrm>
          <a:prstGeom prst="rect">
            <a:avLst/>
          </a:prstGeom>
          <a:noFill/>
          <a:ln/>
        </p:spPr>
        <p:txBody>
          <a:bodyPr wrap="square" lIns="0" tIns="0" rIns="0" bIns="0" rtlCol="0" anchor="t"/>
          <a:lstStyle/>
          <a:p>
            <a:pPr indent="0" marL="0">
              <a:buNone/>
            </a:pPr>
            <a:r>
              <a:rPr lang="en-US" sz="1150" dirty="0">
                <a:solidFill>
                  <a:srgbClr val="404040"/>
                </a:solidFill>
                <a:latin typeface="Segoe UI" pitchFamily="34" charset="0"/>
                <a:ea typeface="Segoe UI" pitchFamily="34" charset="-122"/>
                <a:cs typeface="Segoe UI" pitchFamily="34" charset="-120"/>
              </a:rPr>
              <a:t>Costo, consumo de tokens y salud operacional del agente en el tiempo.</a:t>
            </a:r>
            <a:endParaRPr lang="en-US" sz="1150" dirty="0"/>
          </a:p>
        </p:txBody>
      </p:sp>
      <p:sp>
        <p:nvSpPr>
          <p:cNvPr id="25" name="Shape 23"/>
          <p:cNvSpPr/>
          <p:nvPr/>
        </p:nvSpPr>
        <p:spPr>
          <a:xfrm>
            <a:off x="4206240" y="4160520"/>
            <a:ext cx="3429000" cy="1783080"/>
          </a:xfrm>
          <a:prstGeom prst="roundRect">
            <a:avLst>
              <a:gd name="adj" fmla="val 3077"/>
            </a:avLst>
          </a:prstGeom>
          <a:solidFill>
            <a:srgbClr val="F5F8FC"/>
          </a:solidFill>
          <a:ln w="12700">
            <a:solidFill>
              <a:srgbClr val="E3E9F2"/>
            </a:solidFill>
            <a:prstDash val="solid"/>
          </a:ln>
        </p:spPr>
      </p:sp>
      <p:sp>
        <p:nvSpPr>
          <p:cNvPr id="26" name="Shape 24"/>
          <p:cNvSpPr/>
          <p:nvPr/>
        </p:nvSpPr>
        <p:spPr>
          <a:xfrm>
            <a:off x="4434840" y="4389120"/>
            <a:ext cx="457200" cy="457200"/>
          </a:xfrm>
          <a:prstGeom prst="ellipse">
            <a:avLst/>
          </a:prstGeom>
          <a:solidFill>
            <a:srgbClr val="0078D4"/>
          </a:solidFill>
          <a:ln/>
        </p:spPr>
      </p:sp>
      <p:sp>
        <p:nvSpPr>
          <p:cNvPr id="27" name="Text 25"/>
          <p:cNvSpPr/>
          <p:nvPr/>
        </p:nvSpPr>
        <p:spPr>
          <a:xfrm>
            <a:off x="4434840" y="4389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5</a:t>
            </a:r>
            <a:endParaRPr lang="en-US" sz="1800" dirty="0"/>
          </a:p>
        </p:txBody>
      </p:sp>
      <p:sp>
        <p:nvSpPr>
          <p:cNvPr id="28" name="Text 26"/>
          <p:cNvSpPr/>
          <p:nvPr/>
        </p:nvSpPr>
        <p:spPr>
          <a:xfrm>
            <a:off x="5029200" y="4361688"/>
            <a:ext cx="2423160" cy="457200"/>
          </a:xfrm>
          <a:prstGeom prst="rect">
            <a:avLst/>
          </a:prstGeom>
          <a:noFill/>
          <a:ln/>
        </p:spPr>
        <p:txBody>
          <a:bodyPr wrap="square" lIns="0" tIns="0" rIns="0" bIns="0" rtlCol="0" anchor="ctr"/>
          <a:lstStyle/>
          <a:p>
            <a:pPr indent="0" marL="0">
              <a:buNone/>
            </a:pPr>
            <a:r>
              <a:rPr lang="en-US" sz="1500" b="1" dirty="0">
                <a:solidFill>
                  <a:srgbClr val="1A1A1A"/>
                </a:solidFill>
                <a:latin typeface="Segoe UI" pitchFamily="34" charset="0"/>
                <a:ea typeface="Segoe UI" pitchFamily="34" charset="-122"/>
                <a:cs typeface="Segoe UI" pitchFamily="34" charset="-120"/>
              </a:rPr>
              <a:t>Tune · Evaluator</a:t>
            </a:r>
            <a:endParaRPr lang="en-US" sz="1500" dirty="0"/>
          </a:p>
        </p:txBody>
      </p:sp>
      <p:sp>
        <p:nvSpPr>
          <p:cNvPr id="29" name="Text 27"/>
          <p:cNvSpPr/>
          <p:nvPr/>
        </p:nvSpPr>
        <p:spPr>
          <a:xfrm>
            <a:off x="4434840" y="4937760"/>
            <a:ext cx="2971800" cy="868680"/>
          </a:xfrm>
          <a:prstGeom prst="rect">
            <a:avLst/>
          </a:prstGeom>
          <a:noFill/>
          <a:ln/>
        </p:spPr>
        <p:txBody>
          <a:bodyPr wrap="square" lIns="0" tIns="0" rIns="0" bIns="0" rtlCol="0" anchor="t"/>
          <a:lstStyle/>
          <a:p>
            <a:pPr indent="0" marL="0">
              <a:buNone/>
            </a:pPr>
            <a:r>
              <a:rPr lang="en-US" sz="1150" dirty="0">
                <a:solidFill>
                  <a:srgbClr val="404040"/>
                </a:solidFill>
                <a:latin typeface="Segoe UI" pitchFamily="34" charset="0"/>
                <a:ea typeface="Segoe UI" pitchFamily="34" charset="-122"/>
                <a:cs typeface="Segoe UI" pitchFamily="34" charset="-120"/>
              </a:rPr>
              <a:t>Rúbrica de calidad medible y repetible, ejecutada sobre tráfico real.</a:t>
            </a:r>
            <a:endParaRPr lang="en-US" sz="1150" dirty="0"/>
          </a:p>
        </p:txBody>
      </p:sp>
      <p:sp>
        <p:nvSpPr>
          <p:cNvPr id="30" name="Shape 28"/>
          <p:cNvSpPr/>
          <p:nvPr/>
        </p:nvSpPr>
        <p:spPr>
          <a:xfrm>
            <a:off x="7863840" y="4160520"/>
            <a:ext cx="3429000" cy="1783080"/>
          </a:xfrm>
          <a:prstGeom prst="roundRect">
            <a:avLst>
              <a:gd name="adj" fmla="val 3077"/>
            </a:avLst>
          </a:prstGeom>
          <a:solidFill>
            <a:srgbClr val="F5F8FC"/>
          </a:solidFill>
          <a:ln w="12700">
            <a:solidFill>
              <a:srgbClr val="E3E9F2"/>
            </a:solidFill>
            <a:prstDash val="solid"/>
          </a:ln>
        </p:spPr>
      </p:sp>
      <p:sp>
        <p:nvSpPr>
          <p:cNvPr id="31" name="Shape 29"/>
          <p:cNvSpPr/>
          <p:nvPr/>
        </p:nvSpPr>
        <p:spPr>
          <a:xfrm>
            <a:off x="8092440" y="4389120"/>
            <a:ext cx="457200" cy="457200"/>
          </a:xfrm>
          <a:prstGeom prst="ellipse">
            <a:avLst/>
          </a:prstGeom>
          <a:solidFill>
            <a:srgbClr val="0078D4"/>
          </a:solidFill>
          <a:ln/>
        </p:spPr>
      </p:sp>
      <p:sp>
        <p:nvSpPr>
          <p:cNvPr id="32" name="Text 30"/>
          <p:cNvSpPr/>
          <p:nvPr/>
        </p:nvSpPr>
        <p:spPr>
          <a:xfrm>
            <a:off x="8092440" y="4389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6</a:t>
            </a:r>
            <a:endParaRPr lang="en-US" sz="1800" dirty="0"/>
          </a:p>
        </p:txBody>
      </p:sp>
      <p:sp>
        <p:nvSpPr>
          <p:cNvPr id="33" name="Text 31"/>
          <p:cNvSpPr/>
          <p:nvPr/>
        </p:nvSpPr>
        <p:spPr>
          <a:xfrm>
            <a:off x="8686800" y="4361688"/>
            <a:ext cx="2423160" cy="457200"/>
          </a:xfrm>
          <a:prstGeom prst="rect">
            <a:avLst/>
          </a:prstGeom>
          <a:noFill/>
          <a:ln/>
        </p:spPr>
        <p:txBody>
          <a:bodyPr wrap="square" lIns="0" tIns="0" rIns="0" bIns="0" rtlCol="0" anchor="ctr"/>
          <a:lstStyle/>
          <a:p>
            <a:pPr indent="0" marL="0">
              <a:buNone/>
            </a:pPr>
            <a:r>
              <a:rPr lang="en-US" sz="1500" b="1" dirty="0">
                <a:solidFill>
                  <a:srgbClr val="1A1A1A"/>
                </a:solidFill>
                <a:latin typeface="Segoe UI" pitchFamily="34" charset="0"/>
                <a:ea typeface="Segoe UI" pitchFamily="34" charset="-122"/>
                <a:cs typeface="Segoe UI" pitchFamily="34" charset="-120"/>
              </a:rPr>
              <a:t>Resultado</a:t>
            </a:r>
            <a:endParaRPr lang="en-US" sz="1500" dirty="0"/>
          </a:p>
        </p:txBody>
      </p:sp>
      <p:sp>
        <p:nvSpPr>
          <p:cNvPr id="34" name="Text 32"/>
          <p:cNvSpPr/>
          <p:nvPr/>
        </p:nvSpPr>
        <p:spPr>
          <a:xfrm>
            <a:off x="8092440" y="4937760"/>
            <a:ext cx="2971800" cy="868680"/>
          </a:xfrm>
          <a:prstGeom prst="rect">
            <a:avLst/>
          </a:prstGeom>
          <a:noFill/>
          <a:ln/>
        </p:spPr>
        <p:txBody>
          <a:bodyPr wrap="square" lIns="0" tIns="0" rIns="0" bIns="0" rtlCol="0" anchor="t"/>
          <a:lstStyle/>
          <a:p>
            <a:pPr indent="0" marL="0">
              <a:buNone/>
            </a:pPr>
            <a:r>
              <a:rPr lang="en-US" sz="1150" dirty="0">
                <a:solidFill>
                  <a:srgbClr val="404040"/>
                </a:solidFill>
                <a:latin typeface="Segoe UI" pitchFamily="34" charset="0"/>
                <a:ea typeface="Segoe UI" pitchFamily="34" charset="-122"/>
                <a:cs typeface="Segoe UI" pitchFamily="34" charset="-120"/>
              </a:rPr>
              <a:t>Un caso de uso real: auditoría de facturas con hallazgo cuantificado.</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lIns="0" tIns="0" rIns="0" bIns="0" rtlCol="0" anchor="ctr"/>
          <a:lstStyle/>
          <a:p>
            <a:pPr indent="0" marL="0">
              <a:buNone/>
            </a:pPr>
            <a:r>
              <a:rPr lang="en-US" sz="1100" spc="100" kern="0" dirty="0">
                <a:solidFill>
                  <a:srgbClr val="0078D4"/>
                </a:solidFill>
                <a:latin typeface="Segoe UI" pitchFamily="34" charset="0"/>
                <a:ea typeface="Segoe UI" pitchFamily="34" charset="-122"/>
                <a:cs typeface="Segoe UI" pitchFamily="34" charset="-120"/>
              </a:rPr>
              <a:t>EL CASO DE USO</a:t>
            </a:r>
            <a:endParaRPr lang="en-US" sz="1100" dirty="0"/>
          </a:p>
        </p:txBody>
      </p:sp>
      <p:sp>
        <p:nvSpPr>
          <p:cNvPr id="3" name="Text 1"/>
          <p:cNvSpPr/>
          <p:nvPr/>
        </p:nvSpPr>
        <p:spPr>
          <a:xfrm>
            <a:off x="548640" y="777240"/>
            <a:ext cx="10058400" cy="640080"/>
          </a:xfrm>
          <a:prstGeom prst="rect">
            <a:avLst/>
          </a:prstGeom>
          <a:noFill/>
          <a:ln/>
        </p:spPr>
        <p:txBody>
          <a:bodyPr wrap="square" lIns="0" tIns="0" rIns="0" bIns="0" rtlCol="0" anchor="ctr"/>
          <a:lstStyle/>
          <a:p>
            <a:pPr indent="0" marL="0">
              <a:buNone/>
            </a:pPr>
            <a:r>
              <a:rPr lang="en-US" sz="3000" b="1" dirty="0">
                <a:solidFill>
                  <a:srgbClr val="0A2C6E"/>
                </a:solidFill>
                <a:latin typeface="Segoe UI" pitchFamily="34" charset="0"/>
                <a:ea typeface="Segoe UI" pitchFamily="34" charset="-122"/>
                <a:cs typeface="Segoe UI" pitchFamily="34" charset="-120"/>
              </a:rPr>
              <a:t>Auditoría de facturas de staffing</a:t>
            </a:r>
            <a:endParaRPr lang="en-US" sz="3000" dirty="0"/>
          </a:p>
        </p:txBody>
      </p:sp>
      <p:sp>
        <p:nvSpPr>
          <p:cNvPr id="4" name="Text 2"/>
          <p:cNvSpPr/>
          <p:nvPr/>
        </p:nvSpPr>
        <p:spPr>
          <a:xfrm>
            <a:off x="548640" y="1600200"/>
            <a:ext cx="5669280" cy="4572000"/>
          </a:xfrm>
          <a:prstGeom prst="rect">
            <a:avLst/>
          </a:prstGeom>
          <a:noFill/>
          <a:ln/>
        </p:spPr>
        <p:txBody>
          <a:bodyPr wrap="square" lIns="0" tIns="0" rIns="0" bIns="0" rtlCol="0" anchor="t"/>
          <a:lstStyle/>
          <a:p>
            <a:pPr indent="0" marL="0">
              <a:spcAft>
                <a:spcPts val="600"/>
              </a:spcAft>
              <a:buNone/>
            </a:pPr>
            <a:r>
              <a:rPr lang="en-US" sz="1500" b="1" dirty="0">
                <a:solidFill>
                  <a:srgbClr val="1A1A1A"/>
                </a:solidFill>
                <a:latin typeface="Segoe UI" pitchFamily="34" charset="0"/>
                <a:ea typeface="Segoe UI" pitchFamily="34" charset="-122"/>
                <a:cs typeface="Segoe UI" pitchFamily="34" charset="-120"/>
              </a:rPr>
              <a:t>El problema
</a:t>
            </a:r>
            <a:endParaRPr lang="en-US" sz="1500" dirty="0"/>
          </a:p>
          <a:p>
            <a:pPr indent="0" marL="0">
              <a:spcAft>
                <a:spcPts val="1000"/>
              </a:spcAft>
              <a:buNone/>
            </a:pPr>
            <a:r>
              <a:rPr lang="en-US" sz="1250" dirty="0">
                <a:solidFill>
                  <a:srgbClr val="404040"/>
                </a:solidFill>
                <a:latin typeface="Segoe UI" pitchFamily="34" charset="0"/>
                <a:ea typeface="Segoe UI" pitchFamily="34" charset="-122"/>
                <a:cs typeface="Segoe UI" pitchFamily="34" charset="-120"/>
              </a:rPr>
              <a:t>Meridian Manufacturing contrata personal vía ServicePro Staffing bajo un contrato marco (MSA). Las horas extra solo son facturables si cuentan con una aprobación previa por escrito, registrada por sitio y mes.
</a:t>
            </a:r>
            <a:endParaRPr lang="en-US" sz="1500" dirty="0"/>
          </a:p>
          <a:p>
            <a:pPr indent="0" marL="0">
              <a:spcAft>
                <a:spcPts val="600"/>
              </a:spcAft>
              <a:buNone/>
            </a:pPr>
            <a:r>
              <a:rPr lang="en-US" sz="1500" b="1" dirty="0">
                <a:solidFill>
                  <a:srgbClr val="1A1A1A"/>
                </a:solidFill>
                <a:latin typeface="Segoe UI" pitchFamily="34" charset="0"/>
                <a:ea typeface="Segoe UI" pitchFamily="34" charset="-122"/>
                <a:cs typeface="Segoe UI" pitchFamily="34" charset="-120"/>
              </a:rPr>
              <a:t>Sin un agente
</a:t>
            </a:r>
            <a:endParaRPr lang="en-US" sz="1500" dirty="0"/>
          </a:p>
          <a:p>
            <a:pPr indent="0" marL="0">
              <a:spcAft>
                <a:spcPts val="1000"/>
              </a:spcAft>
              <a:buNone/>
            </a:pPr>
            <a:r>
              <a:rPr lang="en-US" sz="1250" dirty="0">
                <a:solidFill>
                  <a:srgbClr val="404040"/>
                </a:solidFill>
                <a:latin typeface="Segoe UI" pitchFamily="34" charset="0"/>
                <a:ea typeface="Segoe UI" pitchFamily="34" charset="-122"/>
                <a:cs typeface="Segoe UI" pitchFamily="34" charset="-120"/>
              </a:rPr>
              <a:t>El equipo de Procurement cruza manualmente cada línea de factura contra el contrato y el registro de aprobaciones — lento y propenso a errores.
</a:t>
            </a:r>
            <a:endParaRPr lang="en-US" sz="1500" dirty="0"/>
          </a:p>
          <a:p>
            <a:pPr indent="0" marL="0">
              <a:spcAft>
                <a:spcPts val="600"/>
              </a:spcAft>
              <a:buNone/>
            </a:pPr>
            <a:r>
              <a:rPr lang="en-US" sz="1500" b="1" dirty="0">
                <a:solidFill>
                  <a:srgbClr val="1A1A1A"/>
                </a:solidFill>
                <a:latin typeface="Segoe UI" pitchFamily="34" charset="0"/>
                <a:ea typeface="Segoe UI" pitchFamily="34" charset="-122"/>
                <a:cs typeface="Segoe UI" pitchFamily="34" charset="-120"/>
              </a:rPr>
              <a:t>Con el Invoice Audit Agent
</a:t>
            </a:r>
            <a:endParaRPr lang="en-US" sz="1500" dirty="0"/>
          </a:p>
          <a:p>
            <a:pPr indent="0" marL="0">
              <a:buNone/>
            </a:pPr>
            <a:r>
              <a:rPr lang="en-US" sz="1250" dirty="0">
                <a:solidFill>
                  <a:srgbClr val="404040"/>
                </a:solidFill>
                <a:latin typeface="Segoe UI" pitchFamily="34" charset="0"/>
                <a:ea typeface="Segoe UI" pitchFamily="34" charset="-122"/>
                <a:cs typeface="Segoe UI" pitchFamily="34" charset="-120"/>
              </a:rPr>
              <a:t>El agente lee la factura, el contrato y el registro de aprobaciones, identifica cargos no facturables, cita la cláusula exacta, y recomienda una disposición.</a:t>
            </a:r>
            <a:endParaRPr lang="en-US" sz="1500" dirty="0"/>
          </a:p>
        </p:txBody>
      </p:sp>
      <p:sp>
        <p:nvSpPr>
          <p:cNvPr id="5" name="Shape 3"/>
          <p:cNvSpPr/>
          <p:nvPr/>
        </p:nvSpPr>
        <p:spPr>
          <a:xfrm>
            <a:off x="6675120" y="1600200"/>
            <a:ext cx="4937760" cy="4572000"/>
          </a:xfrm>
          <a:prstGeom prst="roundRect">
            <a:avLst>
              <a:gd name="adj" fmla="val 1600"/>
            </a:avLst>
          </a:prstGeom>
          <a:solidFill>
            <a:srgbClr val="0A2C6E"/>
          </a:solidFill>
          <a:ln/>
        </p:spPr>
      </p:sp>
      <p:sp>
        <p:nvSpPr>
          <p:cNvPr id="6" name="Text 4"/>
          <p:cNvSpPr/>
          <p:nvPr/>
        </p:nvSpPr>
        <p:spPr>
          <a:xfrm>
            <a:off x="7040880" y="1920240"/>
            <a:ext cx="4206240" cy="320040"/>
          </a:xfrm>
          <a:prstGeom prst="rect">
            <a:avLst/>
          </a:prstGeom>
          <a:noFill/>
          <a:ln/>
        </p:spPr>
        <p:txBody>
          <a:bodyPr wrap="square" lIns="0" tIns="0" rIns="0" bIns="0" rtlCol="0" anchor="ctr"/>
          <a:lstStyle/>
          <a:p>
            <a:pPr indent="0" marL="0">
              <a:buNone/>
            </a:pPr>
            <a:r>
              <a:rPr lang="en-US" sz="1100" spc="100" kern="0" dirty="0">
                <a:solidFill>
                  <a:srgbClr val="5CC6F5"/>
                </a:solidFill>
                <a:latin typeface="Segoe UI" pitchFamily="34" charset="0"/>
                <a:ea typeface="Segoe UI" pitchFamily="34" charset="-122"/>
                <a:cs typeface="Segoe UI" pitchFamily="34" charset="-120"/>
              </a:rPr>
              <a:t>HALLAZGO REAL DEL AGENTE</a:t>
            </a:r>
            <a:endParaRPr lang="en-US" sz="1100" dirty="0"/>
          </a:p>
        </p:txBody>
      </p:sp>
      <p:sp>
        <p:nvSpPr>
          <p:cNvPr id="7" name="Text 5"/>
          <p:cNvSpPr/>
          <p:nvPr/>
        </p:nvSpPr>
        <p:spPr>
          <a:xfrm>
            <a:off x="7040880" y="2286000"/>
            <a:ext cx="4206240" cy="914400"/>
          </a:xfrm>
          <a:prstGeom prst="rect">
            <a:avLst/>
          </a:prstGeom>
          <a:noFill/>
          <a:ln/>
        </p:spPr>
        <p:txBody>
          <a:bodyPr wrap="square" lIns="0" tIns="0" rIns="0" bIns="0" rtlCol="0" anchor="ctr"/>
          <a:lstStyle/>
          <a:p>
            <a:pPr indent="0" marL="0">
              <a:buNone/>
            </a:pPr>
            <a:r>
              <a:rPr lang="en-US" sz="5200" b="1" dirty="0">
                <a:solidFill>
                  <a:srgbClr val="FFFFFF"/>
                </a:solidFill>
                <a:latin typeface="Segoe UI" pitchFamily="34" charset="0"/>
                <a:ea typeface="Segoe UI" pitchFamily="34" charset="-122"/>
                <a:cs typeface="Segoe UI" pitchFamily="34" charset="-120"/>
              </a:rPr>
              <a:t>$8,342.25</a:t>
            </a:r>
            <a:endParaRPr lang="en-US" sz="5200" dirty="0"/>
          </a:p>
        </p:txBody>
      </p:sp>
      <p:sp>
        <p:nvSpPr>
          <p:cNvPr id="8" name="Text 6"/>
          <p:cNvSpPr/>
          <p:nvPr/>
        </p:nvSpPr>
        <p:spPr>
          <a:xfrm>
            <a:off x="7040880" y="3200400"/>
            <a:ext cx="4206240" cy="640080"/>
          </a:xfrm>
          <a:prstGeom prst="rect">
            <a:avLst/>
          </a:prstGeom>
          <a:noFill/>
          <a:ln/>
        </p:spPr>
        <p:txBody>
          <a:bodyPr wrap="square" lIns="0" tIns="0" rIns="0" bIns="0" rtlCol="0" anchor="ctr"/>
          <a:lstStyle/>
          <a:p>
            <a:pPr indent="0" marL="0">
              <a:buNone/>
            </a:pPr>
            <a:r>
              <a:rPr lang="en-US" sz="1400" dirty="0">
                <a:solidFill>
                  <a:srgbClr val="CFE3FA"/>
                </a:solidFill>
                <a:latin typeface="Segoe UI" pitchFamily="34" charset="0"/>
                <a:ea typeface="Segoe UI" pitchFamily="34" charset="-122"/>
                <a:cs typeface="Segoe UI" pitchFamily="34" charset="-120"/>
              </a:rPr>
              <a:t>en horas extra no facturables identificadas en una sola factura</a:t>
            </a:r>
            <a:endParaRPr lang="en-US" sz="1400" dirty="0"/>
          </a:p>
        </p:txBody>
      </p:sp>
      <p:sp>
        <p:nvSpPr>
          <p:cNvPr id="9" name="Shape 7"/>
          <p:cNvSpPr/>
          <p:nvPr/>
        </p:nvSpPr>
        <p:spPr>
          <a:xfrm>
            <a:off x="7040880" y="3977640"/>
            <a:ext cx="4206240" cy="0"/>
          </a:xfrm>
          <a:prstGeom prst="line">
            <a:avLst/>
          </a:prstGeom>
          <a:noFill/>
          <a:ln w="12700">
            <a:solidFill>
              <a:srgbClr val="2A4A8A"/>
            </a:solidFill>
            <a:prstDash val="solid"/>
          </a:ln>
        </p:spPr>
      </p:sp>
      <p:sp>
        <p:nvSpPr>
          <p:cNvPr id="10" name="Text 8"/>
          <p:cNvSpPr/>
          <p:nvPr/>
        </p:nvSpPr>
        <p:spPr>
          <a:xfrm>
            <a:off x="7040880" y="4160520"/>
            <a:ext cx="4206240" cy="365760"/>
          </a:xfrm>
          <a:prstGeom prst="rect">
            <a:avLst/>
          </a:prstGeom>
          <a:noFill/>
          <a:ln/>
        </p:spPr>
        <p:txBody>
          <a:bodyPr wrap="square" lIns="0" tIns="0" rIns="0" bIns="0" rtlCol="0" anchor="ctr"/>
          <a:lstStyle/>
          <a:p>
            <a:pPr indent="0" marL="0">
              <a:buNone/>
            </a:pPr>
            <a:r>
              <a:rPr lang="en-US" sz="1800" b="1" dirty="0">
                <a:solidFill>
                  <a:srgbClr val="00BBC3"/>
                </a:solidFill>
                <a:latin typeface="Segoe UI" pitchFamily="34" charset="0"/>
                <a:ea typeface="Segoe UI" pitchFamily="34" charset="-122"/>
                <a:cs typeface="Segoe UI" pitchFamily="34" charset="-120"/>
              </a:rPr>
              <a:t>227</a:t>
            </a:r>
            <a:endParaRPr lang="en-US" sz="1800" dirty="0"/>
          </a:p>
        </p:txBody>
      </p:sp>
      <p:sp>
        <p:nvSpPr>
          <p:cNvPr id="11" name="Text 9"/>
          <p:cNvSpPr/>
          <p:nvPr/>
        </p:nvSpPr>
        <p:spPr>
          <a:xfrm>
            <a:off x="7040880" y="4507992"/>
            <a:ext cx="4206240" cy="320040"/>
          </a:xfrm>
          <a:prstGeom prst="rect">
            <a:avLst/>
          </a:prstGeom>
          <a:noFill/>
          <a:ln/>
        </p:spPr>
        <p:txBody>
          <a:bodyPr wrap="square" lIns="0" tIns="0" rIns="0" bIns="0" rtlCol="0" anchor="ctr"/>
          <a:lstStyle/>
          <a:p>
            <a:pPr indent="0" marL="0">
              <a:buNone/>
            </a:pPr>
            <a:r>
              <a:rPr lang="en-US" sz="1100" dirty="0">
                <a:solidFill>
                  <a:srgbClr val="A9C2E8"/>
                </a:solidFill>
                <a:latin typeface="Segoe UI" pitchFamily="34" charset="0"/>
                <a:ea typeface="Segoe UI" pitchFamily="34" charset="-122"/>
                <a:cs typeface="Segoe UI" pitchFamily="34" charset="-120"/>
              </a:rPr>
              <a:t>horas de OT sin aprobación válida</a:t>
            </a:r>
            <a:endParaRPr lang="en-US" sz="1100" dirty="0"/>
          </a:p>
        </p:txBody>
      </p:sp>
      <p:sp>
        <p:nvSpPr>
          <p:cNvPr id="12" name="Text 10"/>
          <p:cNvSpPr/>
          <p:nvPr/>
        </p:nvSpPr>
        <p:spPr>
          <a:xfrm>
            <a:off x="7040880" y="4873752"/>
            <a:ext cx="4206240" cy="365760"/>
          </a:xfrm>
          <a:prstGeom prst="rect">
            <a:avLst/>
          </a:prstGeom>
          <a:noFill/>
          <a:ln/>
        </p:spPr>
        <p:txBody>
          <a:bodyPr wrap="square" lIns="0" tIns="0" rIns="0" bIns="0" rtlCol="0" anchor="ctr"/>
          <a:lstStyle/>
          <a:p>
            <a:pPr indent="0" marL="0">
              <a:buNone/>
            </a:pPr>
            <a:r>
              <a:rPr lang="en-US" sz="1800" b="1" dirty="0">
                <a:solidFill>
                  <a:srgbClr val="00BBC3"/>
                </a:solidFill>
                <a:latin typeface="Segoe UI" pitchFamily="34" charset="0"/>
                <a:ea typeface="Segoe UI" pitchFamily="34" charset="-122"/>
                <a:cs typeface="Segoe UI" pitchFamily="34" charset="-120"/>
              </a:rPr>
              <a:t>Sección 3.2(c)</a:t>
            </a:r>
            <a:endParaRPr lang="en-US" sz="1800" dirty="0"/>
          </a:p>
        </p:txBody>
      </p:sp>
      <p:sp>
        <p:nvSpPr>
          <p:cNvPr id="13" name="Text 11"/>
          <p:cNvSpPr/>
          <p:nvPr/>
        </p:nvSpPr>
        <p:spPr>
          <a:xfrm>
            <a:off x="7040880" y="5221224"/>
            <a:ext cx="4206240" cy="320040"/>
          </a:xfrm>
          <a:prstGeom prst="rect">
            <a:avLst/>
          </a:prstGeom>
          <a:noFill/>
          <a:ln/>
        </p:spPr>
        <p:txBody>
          <a:bodyPr wrap="square" lIns="0" tIns="0" rIns="0" bIns="0" rtlCol="0" anchor="ctr"/>
          <a:lstStyle/>
          <a:p>
            <a:pPr indent="0" marL="0">
              <a:buNone/>
            </a:pPr>
            <a:r>
              <a:rPr lang="en-US" sz="1100" dirty="0">
                <a:solidFill>
                  <a:srgbClr val="A9C2E8"/>
                </a:solidFill>
                <a:latin typeface="Segoe UI" pitchFamily="34" charset="0"/>
                <a:ea typeface="Segoe UI" pitchFamily="34" charset="-122"/>
                <a:cs typeface="Segoe UI" pitchFamily="34" charset="-120"/>
              </a:rPr>
              <a:t>cláusula del contrato citada automáticamente</a:t>
            </a:r>
            <a:endParaRPr lang="en-US" sz="1100" dirty="0"/>
          </a:p>
        </p:txBody>
      </p:sp>
      <p:sp>
        <p:nvSpPr>
          <p:cNvPr id="14" name="Text 12"/>
          <p:cNvSpPr/>
          <p:nvPr/>
        </p:nvSpPr>
        <p:spPr>
          <a:xfrm>
            <a:off x="7040880" y="5586984"/>
            <a:ext cx="4206240" cy="365760"/>
          </a:xfrm>
          <a:prstGeom prst="rect">
            <a:avLst/>
          </a:prstGeom>
          <a:noFill/>
          <a:ln/>
        </p:spPr>
        <p:txBody>
          <a:bodyPr wrap="square" lIns="0" tIns="0" rIns="0" bIns="0" rtlCol="0" anchor="ctr"/>
          <a:lstStyle/>
          <a:p>
            <a:pPr indent="0" marL="0">
              <a:buNone/>
            </a:pPr>
            <a:r>
              <a:rPr lang="en-US" sz="1800" b="1" dirty="0">
                <a:solidFill>
                  <a:srgbClr val="00BBC3"/>
                </a:solidFill>
                <a:latin typeface="Segoe UI" pitchFamily="34" charset="0"/>
                <a:ea typeface="Segoe UI" pitchFamily="34" charset="-122"/>
                <a:cs typeface="Segoe UI" pitchFamily="34" charset="-120"/>
              </a:rPr>
              <a:t>Escalate</a:t>
            </a:r>
            <a:endParaRPr lang="en-US" sz="1800" dirty="0"/>
          </a:p>
        </p:txBody>
      </p:sp>
      <p:sp>
        <p:nvSpPr>
          <p:cNvPr id="15" name="Text 13"/>
          <p:cNvSpPr/>
          <p:nvPr/>
        </p:nvSpPr>
        <p:spPr>
          <a:xfrm>
            <a:off x="7040880" y="5934456"/>
            <a:ext cx="4206240" cy="320040"/>
          </a:xfrm>
          <a:prstGeom prst="rect">
            <a:avLst/>
          </a:prstGeom>
          <a:noFill/>
          <a:ln/>
        </p:spPr>
        <p:txBody>
          <a:bodyPr wrap="square" lIns="0" tIns="0" rIns="0" bIns="0" rtlCol="0" anchor="ctr"/>
          <a:lstStyle/>
          <a:p>
            <a:pPr indent="0" marL="0">
              <a:buNone/>
            </a:pPr>
            <a:r>
              <a:rPr lang="en-US" sz="1100" dirty="0">
                <a:solidFill>
                  <a:srgbClr val="A9C2E8"/>
                </a:solidFill>
                <a:latin typeface="Segoe UI" pitchFamily="34" charset="0"/>
                <a:ea typeface="Segoe UI" pitchFamily="34" charset="-122"/>
                <a:cs typeface="Segoe UI" pitchFamily="34" charset="-120"/>
              </a:rPr>
              <a:t>disposición recomendada por el agente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lIns="0" tIns="0" rIns="0" bIns="0" rtlCol="0" anchor="ctr"/>
          <a:lstStyle/>
          <a:p>
            <a:pPr indent="0" marL="0">
              <a:buNone/>
            </a:pPr>
            <a:r>
              <a:rPr lang="en-US" sz="1100" spc="100" kern="0" dirty="0">
                <a:solidFill>
                  <a:srgbClr val="0078D4"/>
                </a:solidFill>
                <a:latin typeface="Segoe UI" pitchFamily="34" charset="0"/>
                <a:ea typeface="Segoe UI" pitchFamily="34" charset="-122"/>
                <a:cs typeface="Segoe UI" pitchFamily="34" charset="-120"/>
              </a:rPr>
              <a:t>SECCIÓN 1-2 · BUILD &amp; GROUND</a:t>
            </a:r>
            <a:endParaRPr lang="en-US" sz="1100" dirty="0"/>
          </a:p>
        </p:txBody>
      </p:sp>
      <p:sp>
        <p:nvSpPr>
          <p:cNvPr id="3" name="Text 1"/>
          <p:cNvSpPr/>
          <p:nvPr/>
        </p:nvSpPr>
        <p:spPr>
          <a:xfrm>
            <a:off x="548640" y="777240"/>
            <a:ext cx="10058400" cy="640080"/>
          </a:xfrm>
          <a:prstGeom prst="rect">
            <a:avLst/>
          </a:prstGeom>
          <a:noFill/>
          <a:ln/>
        </p:spPr>
        <p:txBody>
          <a:bodyPr wrap="square" lIns="0" tIns="0" rIns="0" bIns="0" rtlCol="0" anchor="ctr"/>
          <a:lstStyle/>
          <a:p>
            <a:pPr indent="0" marL="0">
              <a:buNone/>
            </a:pPr>
            <a:r>
              <a:rPr lang="en-US" sz="2800" b="1" dirty="0">
                <a:solidFill>
                  <a:srgbClr val="0A2C6E"/>
                </a:solidFill>
                <a:latin typeface="Segoe UI" pitchFamily="34" charset="0"/>
                <a:ea typeface="Segoe UI" pitchFamily="34" charset="-122"/>
                <a:cs typeface="Segoe UI" pitchFamily="34" charset="-120"/>
              </a:rPr>
              <a:t>Un agente con conocimiento empresarial real</a:t>
            </a:r>
            <a:endParaRPr lang="en-US" sz="2800" dirty="0"/>
          </a:p>
        </p:txBody>
      </p:sp>
      <p:sp>
        <p:nvSpPr>
          <p:cNvPr id="4" name="Text 2"/>
          <p:cNvSpPr/>
          <p:nvPr/>
        </p:nvSpPr>
        <p:spPr>
          <a:xfrm>
            <a:off x="548640" y="1371600"/>
            <a:ext cx="10058400" cy="457200"/>
          </a:xfrm>
          <a:prstGeom prst="rect">
            <a:avLst/>
          </a:prstGeom>
          <a:noFill/>
          <a:ln/>
        </p:spPr>
        <p:txBody>
          <a:bodyPr wrap="square" lIns="0" tIns="0" rIns="0" bIns="0" rtlCol="0" anchor="ctr"/>
          <a:lstStyle/>
          <a:p>
            <a:pPr indent="0" marL="0">
              <a:buNone/>
            </a:pPr>
            <a:r>
              <a:rPr lang="en-US" sz="1500" dirty="0">
                <a:solidFill>
                  <a:srgbClr val="404040"/>
                </a:solidFill>
                <a:latin typeface="Segoe UI" pitchFamily="34" charset="0"/>
                <a:ea typeface="Segoe UI" pitchFamily="34" charset="-122"/>
                <a:cs typeface="Segoe UI" pitchFamily="34" charset="-120"/>
              </a:rPr>
              <a:t>No es una caja negra: cada respuesta está anclada a documentos que la empresa controla</a:t>
            </a:r>
            <a:endParaRPr lang="en-US" sz="1500" dirty="0"/>
          </a:p>
        </p:txBody>
      </p:sp>
      <p:sp>
        <p:nvSpPr>
          <p:cNvPr id="5" name="Shape 3"/>
          <p:cNvSpPr/>
          <p:nvPr/>
        </p:nvSpPr>
        <p:spPr>
          <a:xfrm>
            <a:off x="548640" y="2103120"/>
            <a:ext cx="3429000" cy="82296"/>
          </a:xfrm>
          <a:prstGeom prst="roundRect">
            <a:avLst/>
          </a:prstGeom>
          <a:solidFill>
            <a:srgbClr val="0078D4"/>
          </a:solidFill>
          <a:ln/>
        </p:spPr>
      </p:sp>
      <p:sp>
        <p:nvSpPr>
          <p:cNvPr id="6" name="Text 4"/>
          <p:cNvSpPr/>
          <p:nvPr/>
        </p:nvSpPr>
        <p:spPr>
          <a:xfrm>
            <a:off x="548640" y="2331720"/>
            <a:ext cx="3429000" cy="457200"/>
          </a:xfrm>
          <a:prstGeom prst="rect">
            <a:avLst/>
          </a:prstGeom>
          <a:noFill/>
          <a:ln/>
        </p:spPr>
        <p:txBody>
          <a:bodyPr wrap="square" lIns="0" tIns="0" rIns="0" bIns="0"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Modelo</a:t>
            </a:r>
            <a:endParaRPr lang="en-US" sz="1600" dirty="0"/>
          </a:p>
        </p:txBody>
      </p:sp>
      <p:sp>
        <p:nvSpPr>
          <p:cNvPr id="7" name="Text 5"/>
          <p:cNvSpPr/>
          <p:nvPr/>
        </p:nvSpPr>
        <p:spPr>
          <a:xfrm>
            <a:off x="548640" y="2788920"/>
            <a:ext cx="3429000" cy="1371600"/>
          </a:xfrm>
          <a:prstGeom prst="rect">
            <a:avLst/>
          </a:prstGeom>
          <a:noFill/>
          <a:ln/>
        </p:spPr>
        <p:txBody>
          <a:bodyPr wrap="square" lIns="0" tIns="0" rIns="0" bIns="0" rtlCol="0" anchor="ctr"/>
          <a:lstStyle/>
          <a:p>
            <a:pPr indent="0" marL="0">
              <a:buNone/>
            </a:pPr>
            <a:r>
              <a:rPr lang="en-US" sz="1250" dirty="0">
                <a:solidFill>
                  <a:srgbClr val="404040"/>
                </a:solidFill>
                <a:latin typeface="Segoe UI" pitchFamily="34" charset="0"/>
                <a:ea typeface="Segoe UI" pitchFamily="34" charset="-122"/>
                <a:cs typeface="Segoe UI" pitchFamily="34" charset="-120"/>
              </a:rPr>
              <a:t>gpt-6-astra (OpenAI) desplegado como Global Standard — razonamiento avanzado para flujos agentic.</a:t>
            </a:r>
            <a:endParaRPr lang="en-US" sz="1250" dirty="0"/>
          </a:p>
        </p:txBody>
      </p:sp>
      <p:sp>
        <p:nvSpPr>
          <p:cNvPr id="8" name="Shape 6"/>
          <p:cNvSpPr/>
          <p:nvPr/>
        </p:nvSpPr>
        <p:spPr>
          <a:xfrm>
            <a:off x="4251960" y="2103120"/>
            <a:ext cx="3429000" cy="82296"/>
          </a:xfrm>
          <a:prstGeom prst="roundRect">
            <a:avLst/>
          </a:prstGeom>
          <a:solidFill>
            <a:srgbClr val="0078D4"/>
          </a:solidFill>
          <a:ln/>
        </p:spPr>
      </p:sp>
      <p:sp>
        <p:nvSpPr>
          <p:cNvPr id="9" name="Text 7"/>
          <p:cNvSpPr/>
          <p:nvPr/>
        </p:nvSpPr>
        <p:spPr>
          <a:xfrm>
            <a:off x="4251960" y="2331720"/>
            <a:ext cx="3429000" cy="457200"/>
          </a:xfrm>
          <a:prstGeom prst="rect">
            <a:avLst/>
          </a:prstGeom>
          <a:noFill/>
          <a:ln/>
        </p:spPr>
        <p:txBody>
          <a:bodyPr wrap="square" lIns="0" tIns="0" rIns="0" bIns="0"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Instrucciones</a:t>
            </a:r>
            <a:endParaRPr lang="en-US" sz="1600" dirty="0"/>
          </a:p>
        </p:txBody>
      </p:sp>
      <p:sp>
        <p:nvSpPr>
          <p:cNvPr id="10" name="Text 8"/>
          <p:cNvSpPr/>
          <p:nvPr/>
        </p:nvSpPr>
        <p:spPr>
          <a:xfrm>
            <a:off x="4251960" y="2788920"/>
            <a:ext cx="3429000" cy="1371600"/>
          </a:xfrm>
          <a:prstGeom prst="rect">
            <a:avLst/>
          </a:prstGeom>
          <a:noFill/>
          <a:ln/>
        </p:spPr>
        <p:txBody>
          <a:bodyPr wrap="square" lIns="0" tIns="0" rIns="0" bIns="0" rtlCol="0" anchor="ctr"/>
          <a:lstStyle/>
          <a:p>
            <a:pPr indent="0" marL="0">
              <a:buNone/>
            </a:pPr>
            <a:r>
              <a:rPr lang="en-US" sz="1250" dirty="0">
                <a:solidFill>
                  <a:srgbClr val="404040"/>
                </a:solidFill>
                <a:latin typeface="Segoe UI" pitchFamily="34" charset="0"/>
                <a:ea typeface="Segoe UI" pitchFamily="34" charset="-122"/>
                <a:cs typeface="Segoe UI" pitchFamily="34" charset="-120"/>
              </a:rPr>
              <a:t>El agente sabe su rol: auditor de facturas, su proceso de verificación, y el formato de su respuesta.</a:t>
            </a:r>
            <a:endParaRPr lang="en-US" sz="1250" dirty="0"/>
          </a:p>
        </p:txBody>
      </p:sp>
      <p:sp>
        <p:nvSpPr>
          <p:cNvPr id="11" name="Shape 9"/>
          <p:cNvSpPr/>
          <p:nvPr/>
        </p:nvSpPr>
        <p:spPr>
          <a:xfrm>
            <a:off x="7955280" y="2103120"/>
            <a:ext cx="3429000" cy="82296"/>
          </a:xfrm>
          <a:prstGeom prst="roundRect">
            <a:avLst/>
          </a:prstGeom>
          <a:solidFill>
            <a:srgbClr val="0078D4"/>
          </a:solidFill>
          <a:ln/>
        </p:spPr>
      </p:sp>
      <p:sp>
        <p:nvSpPr>
          <p:cNvPr id="12" name="Text 10"/>
          <p:cNvSpPr/>
          <p:nvPr/>
        </p:nvSpPr>
        <p:spPr>
          <a:xfrm>
            <a:off x="7955280" y="2331720"/>
            <a:ext cx="3429000" cy="457200"/>
          </a:xfrm>
          <a:prstGeom prst="rect">
            <a:avLst/>
          </a:prstGeom>
          <a:noFill/>
          <a:ln/>
        </p:spPr>
        <p:txBody>
          <a:bodyPr wrap="square" lIns="0" tIns="0" rIns="0" bIns="0"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Knowledge (Foundry IQ)</a:t>
            </a:r>
            <a:endParaRPr lang="en-US" sz="1600" dirty="0"/>
          </a:p>
        </p:txBody>
      </p:sp>
      <p:sp>
        <p:nvSpPr>
          <p:cNvPr id="13" name="Text 11"/>
          <p:cNvSpPr/>
          <p:nvPr/>
        </p:nvSpPr>
        <p:spPr>
          <a:xfrm>
            <a:off x="7955280" y="2788920"/>
            <a:ext cx="3429000" cy="1371600"/>
          </a:xfrm>
          <a:prstGeom prst="rect">
            <a:avLst/>
          </a:prstGeom>
          <a:noFill/>
          <a:ln/>
        </p:spPr>
        <p:txBody>
          <a:bodyPr wrap="square" lIns="0" tIns="0" rIns="0" bIns="0" rtlCol="0" anchor="ctr"/>
          <a:lstStyle/>
          <a:p>
            <a:pPr indent="0" marL="0">
              <a:buNone/>
            </a:pPr>
            <a:r>
              <a:rPr lang="en-US" sz="1250" dirty="0">
                <a:solidFill>
                  <a:srgbClr val="404040"/>
                </a:solidFill>
                <a:latin typeface="Segoe UI" pitchFamily="34" charset="0"/>
                <a:ea typeface="Segoe UI" pitchFamily="34" charset="-122"/>
                <a:cs typeface="Segoe UI" pitchFamily="34" charset="-120"/>
              </a:rPr>
              <a:t>Contrato MSA, registro de aprobaciones y facturas indexados en Azure AI Search con recuperación agentic.</a:t>
            </a:r>
            <a:endParaRPr lang="en-US" sz="1250" dirty="0"/>
          </a:p>
        </p:txBody>
      </p:sp>
      <p:sp>
        <p:nvSpPr>
          <p:cNvPr id="14" name="Shape 12"/>
          <p:cNvSpPr/>
          <p:nvPr/>
        </p:nvSpPr>
        <p:spPr>
          <a:xfrm>
            <a:off x="548640" y="4526280"/>
            <a:ext cx="10881360" cy="1691640"/>
          </a:xfrm>
          <a:prstGeom prst="roundRect">
            <a:avLst>
              <a:gd name="adj" fmla="val 3243"/>
            </a:avLst>
          </a:prstGeom>
          <a:solidFill>
            <a:srgbClr val="F5F8FC"/>
          </a:solidFill>
          <a:ln w="12700">
            <a:solidFill>
              <a:srgbClr val="E3E9F2"/>
            </a:solidFill>
            <a:prstDash val="solid"/>
          </a:ln>
        </p:spPr>
      </p:sp>
      <p:sp>
        <p:nvSpPr>
          <p:cNvPr id="15" name="Text 13"/>
          <p:cNvSpPr/>
          <p:nvPr/>
        </p:nvSpPr>
        <p:spPr>
          <a:xfrm>
            <a:off x="822960" y="4681728"/>
            <a:ext cx="10058400" cy="274320"/>
          </a:xfrm>
          <a:prstGeom prst="rect">
            <a:avLst/>
          </a:prstGeom>
          <a:noFill/>
          <a:ln/>
        </p:spPr>
        <p:txBody>
          <a:bodyPr wrap="square" lIns="0" tIns="0" rIns="0" bIns="0" rtlCol="0" anchor="ctr"/>
          <a:lstStyle/>
          <a:p>
            <a:pPr indent="0" marL="0">
              <a:buNone/>
            </a:pPr>
            <a:r>
              <a:rPr lang="en-US" sz="1050" spc="100" kern="0" dirty="0">
                <a:solidFill>
                  <a:srgbClr val="0078D4"/>
                </a:solidFill>
                <a:latin typeface="Segoe UI" pitchFamily="34" charset="0"/>
                <a:ea typeface="Segoe UI" pitchFamily="34" charset="-122"/>
                <a:cs typeface="Segoe UI" pitchFamily="34" charset="-120"/>
              </a:rPr>
              <a:t>RESPUESTA REAL DEL AGENTE (PLAYGROUND)</a:t>
            </a:r>
            <a:endParaRPr lang="en-US" sz="1050" dirty="0"/>
          </a:p>
        </p:txBody>
      </p:sp>
      <p:sp>
        <p:nvSpPr>
          <p:cNvPr id="16" name="Text 14"/>
          <p:cNvSpPr/>
          <p:nvPr/>
        </p:nvSpPr>
        <p:spPr>
          <a:xfrm>
            <a:off x="822960" y="4983480"/>
            <a:ext cx="10332720" cy="1143000"/>
          </a:xfrm>
          <a:prstGeom prst="rect">
            <a:avLst/>
          </a:prstGeom>
          <a:noFill/>
          <a:ln/>
        </p:spPr>
        <p:txBody>
          <a:bodyPr wrap="square" lIns="0" tIns="0" rIns="0" bIns="0" rtlCol="0" anchor="t"/>
          <a:lstStyle/>
          <a:p>
            <a:pPr indent="0" marL="0">
              <a:buNone/>
            </a:pPr>
            <a:r>
              <a:rPr lang="en-US" sz="1300" i="1" dirty="0">
                <a:solidFill>
                  <a:srgbClr val="1A1A1A"/>
                </a:solidFill>
                <a:latin typeface="Segoe UI" pitchFamily="34" charset="0"/>
                <a:ea typeface="Segoe UI" pitchFamily="34" charset="-122"/>
                <a:cs typeface="Segoe UI" pitchFamily="34" charset="-120"/>
              </a:rPr>
              <a:t>“Non-billable overtime / amount at risk: $8,342.25, representing all 227 OT hours billed for worker SP-2355 on Line 4 without a written pre-approval. </a:t>
            </a:r>
            <a:pPr indent="0" marL="0">
              <a:buNone/>
            </a:pPr>
            <a:r>
              <a:rPr lang="en-US" sz="1300" b="1" dirty="0">
                <a:solidFill>
                  <a:srgbClr val="0A2C6E"/>
                </a:solidFill>
                <a:latin typeface="Segoe UI" pitchFamily="34" charset="0"/>
                <a:ea typeface="Segoe UI" pitchFamily="34" charset="-122"/>
                <a:cs typeface="Segoe UI" pitchFamily="34" charset="-120"/>
              </a:rPr>
              <a:t>MSA Section 3.2(c)</a:t>
            </a:r>
            <a:pPr indent="0" marL="0">
              <a:buNone/>
            </a:pPr>
            <a:r>
              <a:rPr lang="en-US" sz="1300" i="1" dirty="0">
                <a:solidFill>
                  <a:srgbClr val="1A1A1A"/>
                </a:solidFill>
                <a:latin typeface="Segoe UI" pitchFamily="34" charset="0"/>
                <a:ea typeface="Segoe UI" pitchFamily="34" charset="-122"/>
                <a:cs typeface="Segoe UI" pitchFamily="34" charset="-120"/>
              </a:rPr>
              <a:t> requires exclusion of overtime lacking a corresponding written pre-approval record.”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lIns="0" tIns="0" rIns="0" bIns="0" rtlCol="0" anchor="ctr"/>
          <a:lstStyle/>
          <a:p>
            <a:pPr indent="0" marL="0">
              <a:buNone/>
            </a:pPr>
            <a:r>
              <a:rPr lang="en-US" sz="1100" spc="100" kern="0" dirty="0">
                <a:solidFill>
                  <a:srgbClr val="0078D4"/>
                </a:solidFill>
                <a:latin typeface="Segoe UI" pitchFamily="34" charset="0"/>
                <a:ea typeface="Segoe UI" pitchFamily="34" charset="-122"/>
                <a:cs typeface="Segoe UI" pitchFamily="34" charset="-120"/>
              </a:rPr>
              <a:t>SECCIÓN 3-4 · OBSERVE</a:t>
            </a:r>
            <a:endParaRPr lang="en-US" sz="1100" dirty="0"/>
          </a:p>
        </p:txBody>
      </p:sp>
      <p:sp>
        <p:nvSpPr>
          <p:cNvPr id="3" name="Text 1"/>
          <p:cNvSpPr/>
          <p:nvPr/>
        </p:nvSpPr>
        <p:spPr>
          <a:xfrm>
            <a:off x="548640" y="777240"/>
            <a:ext cx="10058400" cy="640080"/>
          </a:xfrm>
          <a:prstGeom prst="rect">
            <a:avLst/>
          </a:prstGeom>
          <a:noFill/>
          <a:ln/>
        </p:spPr>
        <p:txBody>
          <a:bodyPr wrap="square" lIns="0" tIns="0" rIns="0" bIns="0" rtlCol="0" anchor="ctr"/>
          <a:lstStyle/>
          <a:p>
            <a:pPr indent="0" marL="0">
              <a:buNone/>
            </a:pPr>
            <a:r>
              <a:rPr lang="en-US" sz="2800" b="1" dirty="0">
                <a:solidFill>
                  <a:srgbClr val="0A2C6E"/>
                </a:solidFill>
                <a:latin typeface="Segoe UI" pitchFamily="34" charset="0"/>
                <a:ea typeface="Segoe UI" pitchFamily="34" charset="-122"/>
                <a:cs typeface="Segoe UI" pitchFamily="34" charset="-120"/>
              </a:rPr>
              <a:t>Trazabilidad y operación en tiempo real</a:t>
            </a:r>
            <a:endParaRPr lang="en-US" sz="2800" dirty="0"/>
          </a:p>
        </p:txBody>
      </p:sp>
      <p:sp>
        <p:nvSpPr>
          <p:cNvPr id="4" name="Text 2"/>
          <p:cNvSpPr/>
          <p:nvPr/>
        </p:nvSpPr>
        <p:spPr>
          <a:xfrm>
            <a:off x="548640" y="1371600"/>
            <a:ext cx="10058400" cy="457200"/>
          </a:xfrm>
          <a:prstGeom prst="rect">
            <a:avLst/>
          </a:prstGeom>
          <a:noFill/>
          <a:ln/>
        </p:spPr>
        <p:txBody>
          <a:bodyPr wrap="square" lIns="0" tIns="0" rIns="0" bIns="0" rtlCol="0" anchor="ctr"/>
          <a:lstStyle/>
          <a:p>
            <a:pPr indent="0" marL="0">
              <a:buNone/>
            </a:pPr>
            <a:r>
              <a:rPr lang="en-US" sz="1500" dirty="0">
                <a:solidFill>
                  <a:srgbClr val="404040"/>
                </a:solidFill>
                <a:latin typeface="Segoe UI" pitchFamily="34" charset="0"/>
                <a:ea typeface="Segoe UI" pitchFamily="34" charset="-122"/>
                <a:cs typeface="Segoe UI" pitchFamily="34" charset="-120"/>
              </a:rPr>
              <a:t>Cada respuesta es auditable; cada ejecución se mide en costo y consumo</a:t>
            </a:r>
            <a:endParaRPr lang="en-US" sz="1500" dirty="0"/>
          </a:p>
        </p:txBody>
      </p:sp>
      <p:sp>
        <p:nvSpPr>
          <p:cNvPr id="5" name="Shape 3"/>
          <p:cNvSpPr/>
          <p:nvPr/>
        </p:nvSpPr>
        <p:spPr>
          <a:xfrm>
            <a:off x="548640" y="2148840"/>
            <a:ext cx="5166360" cy="4069080"/>
          </a:xfrm>
          <a:prstGeom prst="roundRect">
            <a:avLst>
              <a:gd name="adj" fmla="val 1798"/>
            </a:avLst>
          </a:prstGeom>
          <a:solidFill>
            <a:srgbClr val="F5F8FC"/>
          </a:solidFill>
          <a:ln w="12700">
            <a:solidFill>
              <a:srgbClr val="E3E9F2"/>
            </a:solidFill>
            <a:prstDash val="solid"/>
          </a:ln>
        </p:spPr>
      </p:sp>
      <p:sp>
        <p:nvSpPr>
          <p:cNvPr id="6" name="Text 4"/>
          <p:cNvSpPr/>
          <p:nvPr/>
        </p:nvSpPr>
        <p:spPr>
          <a:xfrm>
            <a:off x="914400" y="2377440"/>
            <a:ext cx="4434840" cy="320040"/>
          </a:xfrm>
          <a:prstGeom prst="rect">
            <a:avLst/>
          </a:prstGeom>
          <a:noFill/>
          <a:ln/>
        </p:spPr>
        <p:txBody>
          <a:bodyPr wrap="square" lIns="0" tIns="0" rIns="0" bIns="0" rtlCol="0" anchor="ctr"/>
          <a:lstStyle/>
          <a:p>
            <a:pPr indent="0" marL="0">
              <a:buNone/>
            </a:pPr>
            <a:r>
              <a:rPr lang="en-US" sz="1200" b="1" spc="100" kern="0" dirty="0">
                <a:solidFill>
                  <a:srgbClr val="0078D4"/>
                </a:solidFill>
                <a:latin typeface="Segoe UI" pitchFamily="34" charset="0"/>
                <a:ea typeface="Segoe UI" pitchFamily="34" charset="-122"/>
                <a:cs typeface="Segoe UI" pitchFamily="34" charset="-120"/>
              </a:rPr>
              <a:t>TRACES</a:t>
            </a:r>
            <a:endParaRPr lang="en-US" sz="1200" dirty="0"/>
          </a:p>
        </p:txBody>
      </p:sp>
      <p:sp>
        <p:nvSpPr>
          <p:cNvPr id="7" name="Text 5"/>
          <p:cNvSpPr/>
          <p:nvPr/>
        </p:nvSpPr>
        <p:spPr>
          <a:xfrm>
            <a:off x="914400" y="2697480"/>
            <a:ext cx="4434840" cy="365760"/>
          </a:xfrm>
          <a:prstGeom prst="rect">
            <a:avLst/>
          </a:prstGeom>
          <a:noFill/>
          <a:ln/>
        </p:spPr>
        <p:txBody>
          <a:bodyPr wrap="square" lIns="0" tIns="0" rIns="0" bIns="0"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¿De dónde salió este número?</a:t>
            </a:r>
            <a:endParaRPr lang="en-US" sz="1600" dirty="0"/>
          </a:p>
        </p:txBody>
      </p:sp>
      <p:sp>
        <p:nvSpPr>
          <p:cNvPr id="8" name="Text 6"/>
          <p:cNvSpPr/>
          <p:nvPr/>
        </p:nvSpPr>
        <p:spPr>
          <a:xfrm>
            <a:off x="914400" y="3154680"/>
            <a:ext cx="4434840" cy="914400"/>
          </a:xfrm>
          <a:prstGeom prst="rect">
            <a:avLst/>
          </a:prstGeom>
          <a:noFill/>
          <a:ln/>
        </p:spPr>
        <p:txBody>
          <a:bodyPr wrap="square" lIns="0" tIns="0" rIns="0" bIns="0" rtlCol="0" anchor="ctr"/>
          <a:lstStyle/>
          <a:p>
            <a:pPr indent="0" marL="0">
              <a:buNone/>
            </a:pPr>
            <a:r>
              <a:rPr lang="en-US" sz="1250" dirty="0">
                <a:solidFill>
                  <a:srgbClr val="404040"/>
                </a:solidFill>
                <a:latin typeface="Segoe UI" pitchFamily="34" charset="0"/>
                <a:ea typeface="Segoe UI" pitchFamily="34" charset="-122"/>
                <a:cs typeface="Segoe UI" pitchFamily="34" charset="-120"/>
              </a:rPr>
              <a:t>Cada ejecución registra el modelo invocado, la llamada a la knowledge base vía MCP, y la respuesta final con citas numeradas a la fuente exacta.</a:t>
            </a:r>
            <a:endParaRPr lang="en-US" sz="1250" dirty="0"/>
          </a:p>
        </p:txBody>
      </p:sp>
      <p:sp>
        <p:nvSpPr>
          <p:cNvPr id="9" name="Text 7"/>
          <p:cNvSpPr/>
          <p:nvPr/>
        </p:nvSpPr>
        <p:spPr>
          <a:xfrm>
            <a:off x="914400" y="4251960"/>
            <a:ext cx="1463040" cy="457200"/>
          </a:xfrm>
          <a:prstGeom prst="rect">
            <a:avLst/>
          </a:prstGeom>
          <a:noFill/>
          <a:ln/>
        </p:spPr>
        <p:txBody>
          <a:bodyPr wrap="square" lIns="0" tIns="0" rIns="0" bIns="0" rtlCol="0" anchor="ctr"/>
          <a:lstStyle/>
          <a:p>
            <a:pPr indent="0" marL="0">
              <a:buNone/>
            </a:pPr>
            <a:r>
              <a:rPr lang="en-US" sz="2400" b="1" dirty="0">
                <a:solidFill>
                  <a:srgbClr val="0A2C6E"/>
                </a:solidFill>
                <a:latin typeface="Segoe UI" pitchFamily="34" charset="0"/>
                <a:ea typeface="Segoe UI" pitchFamily="34" charset="-122"/>
                <a:cs typeface="Segoe UI" pitchFamily="34" charset="-120"/>
              </a:rPr>
              <a:t>3</a:t>
            </a:r>
            <a:endParaRPr lang="en-US" sz="2400" dirty="0"/>
          </a:p>
        </p:txBody>
      </p:sp>
      <p:sp>
        <p:nvSpPr>
          <p:cNvPr id="10" name="Text 8"/>
          <p:cNvSpPr/>
          <p:nvPr/>
        </p:nvSpPr>
        <p:spPr>
          <a:xfrm>
            <a:off x="2377440" y="4325112"/>
            <a:ext cx="2971800" cy="457200"/>
          </a:xfrm>
          <a:prstGeom prst="rect">
            <a:avLst/>
          </a:prstGeom>
          <a:noFill/>
          <a:ln/>
        </p:spPr>
        <p:txBody>
          <a:bodyPr wrap="square" lIns="0" tIns="0" rIns="0" bIns="0" rtlCol="0" anchor="ctr"/>
          <a:lstStyle/>
          <a:p>
            <a:pPr indent="0" marL="0">
              <a:buNone/>
            </a:pPr>
            <a:r>
              <a:rPr lang="en-US" sz="1150" dirty="0">
                <a:solidFill>
                  <a:srgbClr val="404040"/>
                </a:solidFill>
                <a:latin typeface="Segoe UI" pitchFamily="34" charset="0"/>
                <a:ea typeface="Segoe UI" pitchFamily="34" charset="-122"/>
                <a:cs typeface="Segoe UI" pitchFamily="34" charset="-120"/>
              </a:rPr>
              <a:t>ejecuciones registradas</a:t>
            </a:r>
            <a:endParaRPr lang="en-US" sz="1150" dirty="0"/>
          </a:p>
        </p:txBody>
      </p:sp>
      <p:sp>
        <p:nvSpPr>
          <p:cNvPr id="11" name="Text 9"/>
          <p:cNvSpPr/>
          <p:nvPr/>
        </p:nvSpPr>
        <p:spPr>
          <a:xfrm>
            <a:off x="914400" y="4873752"/>
            <a:ext cx="1463040" cy="457200"/>
          </a:xfrm>
          <a:prstGeom prst="rect">
            <a:avLst/>
          </a:prstGeom>
          <a:noFill/>
          <a:ln/>
        </p:spPr>
        <p:txBody>
          <a:bodyPr wrap="square" lIns="0" tIns="0" rIns="0" bIns="0" rtlCol="0" anchor="ctr"/>
          <a:lstStyle/>
          <a:p>
            <a:pPr indent="0" marL="0">
              <a:buNone/>
            </a:pPr>
            <a:r>
              <a:rPr lang="en-US" sz="2400" b="1" dirty="0">
                <a:solidFill>
                  <a:srgbClr val="0A2C6E"/>
                </a:solidFill>
                <a:latin typeface="Segoe UI" pitchFamily="34" charset="0"/>
                <a:ea typeface="Segoe UI" pitchFamily="34" charset="-122"/>
                <a:cs typeface="Segoe UI" pitchFamily="34" charset="-120"/>
              </a:rPr>
              <a:t>100%</a:t>
            </a:r>
            <a:endParaRPr lang="en-US" sz="2400" dirty="0"/>
          </a:p>
        </p:txBody>
      </p:sp>
      <p:sp>
        <p:nvSpPr>
          <p:cNvPr id="12" name="Text 10"/>
          <p:cNvSpPr/>
          <p:nvPr/>
        </p:nvSpPr>
        <p:spPr>
          <a:xfrm>
            <a:off x="2377440" y="4946904"/>
            <a:ext cx="2971800" cy="457200"/>
          </a:xfrm>
          <a:prstGeom prst="rect">
            <a:avLst/>
          </a:prstGeom>
          <a:noFill/>
          <a:ln/>
        </p:spPr>
        <p:txBody>
          <a:bodyPr wrap="square" lIns="0" tIns="0" rIns="0" bIns="0" rtlCol="0" anchor="ctr"/>
          <a:lstStyle/>
          <a:p>
            <a:pPr indent="0" marL="0">
              <a:buNone/>
            </a:pPr>
            <a:r>
              <a:rPr lang="en-US" sz="1150" dirty="0">
                <a:solidFill>
                  <a:srgbClr val="404040"/>
                </a:solidFill>
                <a:latin typeface="Segoe UI" pitchFamily="34" charset="0"/>
                <a:ea typeface="Segoe UI" pitchFamily="34" charset="-122"/>
                <a:cs typeface="Segoe UI" pitchFamily="34" charset="-120"/>
              </a:rPr>
              <a:t>completadas sin error</a:t>
            </a:r>
            <a:endParaRPr lang="en-US" sz="1150" dirty="0"/>
          </a:p>
        </p:txBody>
      </p:sp>
      <p:sp>
        <p:nvSpPr>
          <p:cNvPr id="13" name="Text 11"/>
          <p:cNvSpPr/>
          <p:nvPr/>
        </p:nvSpPr>
        <p:spPr>
          <a:xfrm>
            <a:off x="914400" y="5495544"/>
            <a:ext cx="1463040" cy="457200"/>
          </a:xfrm>
          <a:prstGeom prst="rect">
            <a:avLst/>
          </a:prstGeom>
          <a:noFill/>
          <a:ln/>
        </p:spPr>
        <p:txBody>
          <a:bodyPr wrap="square" lIns="0" tIns="0" rIns="0" bIns="0" rtlCol="0" anchor="ctr"/>
          <a:lstStyle/>
          <a:p>
            <a:pPr indent="0" marL="0">
              <a:buNone/>
            </a:pPr>
            <a:r>
              <a:rPr lang="en-US" sz="2400" b="1" dirty="0">
                <a:solidFill>
                  <a:srgbClr val="0A2C6E"/>
                </a:solidFill>
                <a:latin typeface="Segoe UI" pitchFamily="34" charset="0"/>
                <a:ea typeface="Segoe UI" pitchFamily="34" charset="-122"/>
                <a:cs typeface="Segoe UI" pitchFamily="34" charset="-120"/>
              </a:rPr>
              <a:t>~10s</a:t>
            </a:r>
            <a:endParaRPr lang="en-US" sz="2400" dirty="0"/>
          </a:p>
        </p:txBody>
      </p:sp>
      <p:sp>
        <p:nvSpPr>
          <p:cNvPr id="14" name="Text 12"/>
          <p:cNvSpPr/>
          <p:nvPr/>
        </p:nvSpPr>
        <p:spPr>
          <a:xfrm>
            <a:off x="2377440" y="5568696"/>
            <a:ext cx="2971800" cy="457200"/>
          </a:xfrm>
          <a:prstGeom prst="rect">
            <a:avLst/>
          </a:prstGeom>
          <a:noFill/>
          <a:ln/>
        </p:spPr>
        <p:txBody>
          <a:bodyPr wrap="square" lIns="0" tIns="0" rIns="0" bIns="0" rtlCol="0" anchor="ctr"/>
          <a:lstStyle/>
          <a:p>
            <a:pPr indent="0" marL="0">
              <a:buNone/>
            </a:pPr>
            <a:r>
              <a:rPr lang="en-US" sz="1150" dirty="0">
                <a:solidFill>
                  <a:srgbClr val="404040"/>
                </a:solidFill>
                <a:latin typeface="Segoe UI" pitchFamily="34" charset="0"/>
                <a:ea typeface="Segoe UI" pitchFamily="34" charset="-122"/>
                <a:cs typeface="Segoe UI" pitchFamily="34" charset="-120"/>
              </a:rPr>
              <a:t>duración promedio</a:t>
            </a:r>
            <a:endParaRPr lang="en-US" sz="1150" dirty="0"/>
          </a:p>
        </p:txBody>
      </p:sp>
      <p:sp>
        <p:nvSpPr>
          <p:cNvPr id="15" name="Shape 13"/>
          <p:cNvSpPr/>
          <p:nvPr/>
        </p:nvSpPr>
        <p:spPr>
          <a:xfrm>
            <a:off x="5943600" y="2148840"/>
            <a:ext cx="5486400" cy="4069080"/>
          </a:xfrm>
          <a:prstGeom prst="roundRect">
            <a:avLst>
              <a:gd name="adj" fmla="val 1798"/>
            </a:avLst>
          </a:prstGeom>
          <a:solidFill>
            <a:srgbClr val="0A2C6E"/>
          </a:solidFill>
          <a:ln/>
        </p:spPr>
      </p:sp>
      <p:sp>
        <p:nvSpPr>
          <p:cNvPr id="16" name="Text 14"/>
          <p:cNvSpPr/>
          <p:nvPr/>
        </p:nvSpPr>
        <p:spPr>
          <a:xfrm>
            <a:off x="6309360" y="2377440"/>
            <a:ext cx="4754880" cy="320040"/>
          </a:xfrm>
          <a:prstGeom prst="rect">
            <a:avLst/>
          </a:prstGeom>
          <a:noFill/>
          <a:ln/>
        </p:spPr>
        <p:txBody>
          <a:bodyPr wrap="square" lIns="0" tIns="0" rIns="0" bIns="0" rtlCol="0" anchor="ctr"/>
          <a:lstStyle/>
          <a:p>
            <a:pPr indent="0" marL="0">
              <a:buNone/>
            </a:pPr>
            <a:r>
              <a:rPr lang="en-US" sz="1200" b="1" spc="100" kern="0" dirty="0">
                <a:solidFill>
                  <a:srgbClr val="5CC6F5"/>
                </a:solidFill>
                <a:latin typeface="Segoe UI" pitchFamily="34" charset="0"/>
                <a:ea typeface="Segoe UI" pitchFamily="34" charset="-122"/>
                <a:cs typeface="Segoe UI" pitchFamily="34" charset="-120"/>
              </a:rPr>
              <a:t>MONITOR</a:t>
            </a:r>
            <a:endParaRPr lang="en-US" sz="1200" dirty="0"/>
          </a:p>
        </p:txBody>
      </p:sp>
      <p:sp>
        <p:nvSpPr>
          <p:cNvPr id="17" name="Text 15"/>
          <p:cNvSpPr/>
          <p:nvPr/>
        </p:nvSpPr>
        <p:spPr>
          <a:xfrm>
            <a:off x="6309360" y="2697480"/>
            <a:ext cx="4754880" cy="36576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Gobierno de costos de IA</a:t>
            </a:r>
            <a:endParaRPr lang="en-US" sz="1600" dirty="0"/>
          </a:p>
        </p:txBody>
      </p:sp>
      <p:sp>
        <p:nvSpPr>
          <p:cNvPr id="18" name="Text 16"/>
          <p:cNvSpPr/>
          <p:nvPr/>
        </p:nvSpPr>
        <p:spPr>
          <a:xfrm>
            <a:off x="6309360" y="3154680"/>
            <a:ext cx="4754880" cy="822960"/>
          </a:xfrm>
          <a:prstGeom prst="rect">
            <a:avLst/>
          </a:prstGeom>
          <a:noFill/>
          <a:ln/>
        </p:spPr>
        <p:txBody>
          <a:bodyPr wrap="square" lIns="0" tIns="0" rIns="0" bIns="0" rtlCol="0" anchor="ctr"/>
          <a:lstStyle/>
          <a:p>
            <a:pPr indent="0" marL="0">
              <a:buNone/>
            </a:pPr>
            <a:r>
              <a:rPr lang="en-US" sz="1250" dirty="0">
                <a:solidFill>
                  <a:srgbClr val="CFE3FA"/>
                </a:solidFill>
                <a:latin typeface="Segoe UI" pitchFamily="34" charset="0"/>
                <a:ea typeface="Segoe UI" pitchFamily="34" charset="-122"/>
                <a:cs typeface="Segoe UI" pitchFamily="34" charset="-120"/>
              </a:rPr>
              <a:t>El mismo principio de FinOps que ya aplican a Azure, ahora para consumo de modelos y agentes.</a:t>
            </a:r>
            <a:endParaRPr lang="en-US" sz="1250" dirty="0"/>
          </a:p>
        </p:txBody>
      </p:sp>
      <p:sp>
        <p:nvSpPr>
          <p:cNvPr id="19" name="Text 17"/>
          <p:cNvSpPr/>
          <p:nvPr/>
        </p:nvSpPr>
        <p:spPr>
          <a:xfrm>
            <a:off x="6309360" y="4160520"/>
            <a:ext cx="2011680" cy="548640"/>
          </a:xfrm>
          <a:prstGeom prst="rect">
            <a:avLst/>
          </a:prstGeom>
          <a:noFill/>
          <a:ln/>
        </p:spPr>
        <p:txBody>
          <a:bodyPr wrap="square" lIns="0" tIns="0" rIns="0" bIns="0" rtlCol="0" anchor="ctr"/>
          <a:lstStyle/>
          <a:p>
            <a:pPr indent="0" marL="0">
              <a:buNone/>
            </a:pPr>
            <a:r>
              <a:rPr lang="en-US" sz="3000" b="1" dirty="0">
                <a:solidFill>
                  <a:srgbClr val="00BBC3"/>
                </a:solidFill>
                <a:latin typeface="Segoe UI" pitchFamily="34" charset="0"/>
                <a:ea typeface="Segoe UI" pitchFamily="34" charset="-122"/>
                <a:cs typeface="Segoe UI" pitchFamily="34" charset="-120"/>
              </a:rPr>
              <a:t>$0.32</a:t>
            </a:r>
            <a:endParaRPr lang="en-US" sz="3000" dirty="0"/>
          </a:p>
        </p:txBody>
      </p:sp>
      <p:sp>
        <p:nvSpPr>
          <p:cNvPr id="20" name="Text 18"/>
          <p:cNvSpPr/>
          <p:nvPr/>
        </p:nvSpPr>
        <p:spPr>
          <a:xfrm>
            <a:off x="6309360" y="4727448"/>
            <a:ext cx="4754880" cy="320040"/>
          </a:xfrm>
          <a:prstGeom prst="rect">
            <a:avLst/>
          </a:prstGeom>
          <a:noFill/>
          <a:ln/>
        </p:spPr>
        <p:txBody>
          <a:bodyPr wrap="square" lIns="0" tIns="0" rIns="0" bIns="0" rtlCol="0" anchor="ctr"/>
          <a:lstStyle/>
          <a:p>
            <a:pPr indent="0" marL="0">
              <a:buNone/>
            </a:pPr>
            <a:r>
              <a:rPr lang="en-US" sz="1150" dirty="0">
                <a:solidFill>
                  <a:srgbClr val="A9C2E8"/>
                </a:solidFill>
                <a:latin typeface="Segoe UI" pitchFamily="34" charset="0"/>
                <a:ea typeface="Segoe UI" pitchFamily="34" charset="-122"/>
                <a:cs typeface="Segoe UI" pitchFamily="34" charset="-120"/>
              </a:rPr>
              <a:t>costo estimado acumulado</a:t>
            </a:r>
            <a:endParaRPr lang="en-US" sz="1150" dirty="0"/>
          </a:p>
        </p:txBody>
      </p:sp>
      <p:sp>
        <p:nvSpPr>
          <p:cNvPr id="21" name="Text 19"/>
          <p:cNvSpPr/>
          <p:nvPr/>
        </p:nvSpPr>
        <p:spPr>
          <a:xfrm>
            <a:off x="6309360" y="5166360"/>
            <a:ext cx="2011680" cy="548640"/>
          </a:xfrm>
          <a:prstGeom prst="rect">
            <a:avLst/>
          </a:prstGeom>
          <a:noFill/>
          <a:ln/>
        </p:spPr>
        <p:txBody>
          <a:bodyPr wrap="square" lIns="0" tIns="0" rIns="0" bIns="0" rtlCol="0" anchor="ctr"/>
          <a:lstStyle/>
          <a:p>
            <a:pPr indent="0" marL="0">
              <a:buNone/>
            </a:pPr>
            <a:r>
              <a:rPr lang="en-US" sz="3000" b="1" dirty="0">
                <a:solidFill>
                  <a:srgbClr val="00BBC3"/>
                </a:solidFill>
                <a:latin typeface="Segoe UI" pitchFamily="34" charset="0"/>
                <a:ea typeface="Segoe UI" pitchFamily="34" charset="-122"/>
                <a:cs typeface="Segoe UI" pitchFamily="34" charset="-120"/>
              </a:rPr>
              <a:t>25.3K</a:t>
            </a:r>
            <a:endParaRPr lang="en-US" sz="3000" dirty="0"/>
          </a:p>
        </p:txBody>
      </p:sp>
      <p:sp>
        <p:nvSpPr>
          <p:cNvPr id="22" name="Text 20"/>
          <p:cNvSpPr/>
          <p:nvPr/>
        </p:nvSpPr>
        <p:spPr>
          <a:xfrm>
            <a:off x="6309360" y="5733288"/>
            <a:ext cx="4754880" cy="320040"/>
          </a:xfrm>
          <a:prstGeom prst="rect">
            <a:avLst/>
          </a:prstGeom>
          <a:noFill/>
          <a:ln/>
        </p:spPr>
        <p:txBody>
          <a:bodyPr wrap="square" lIns="0" tIns="0" rIns="0" bIns="0" rtlCol="0" anchor="ctr"/>
          <a:lstStyle/>
          <a:p>
            <a:pPr indent="0" marL="0">
              <a:buNone/>
            </a:pPr>
            <a:r>
              <a:rPr lang="en-US" sz="1150" dirty="0">
                <a:solidFill>
                  <a:srgbClr val="A9C2E8"/>
                </a:solidFill>
                <a:latin typeface="Segoe UI" pitchFamily="34" charset="0"/>
                <a:ea typeface="Segoe UI" pitchFamily="34" charset="-122"/>
                <a:cs typeface="Segoe UI" pitchFamily="34" charset="-120"/>
              </a:rPr>
              <a:t>tokens totales consumidos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lIns="0" tIns="0" rIns="0" bIns="0" rtlCol="0" anchor="ctr"/>
          <a:lstStyle/>
          <a:p>
            <a:pPr indent="0" marL="0">
              <a:buNone/>
            </a:pPr>
            <a:r>
              <a:rPr lang="en-US" sz="1100" spc="100" kern="0" dirty="0">
                <a:solidFill>
                  <a:srgbClr val="0078D4"/>
                </a:solidFill>
                <a:latin typeface="Segoe UI" pitchFamily="34" charset="0"/>
                <a:ea typeface="Segoe UI" pitchFamily="34" charset="-122"/>
                <a:cs typeface="Segoe UI" pitchFamily="34" charset="-120"/>
              </a:rPr>
              <a:t>SECCIÓN 5 · TUNE</a:t>
            </a:r>
            <a:endParaRPr lang="en-US" sz="1100" dirty="0"/>
          </a:p>
        </p:txBody>
      </p:sp>
      <p:sp>
        <p:nvSpPr>
          <p:cNvPr id="3" name="Text 1"/>
          <p:cNvSpPr/>
          <p:nvPr/>
        </p:nvSpPr>
        <p:spPr>
          <a:xfrm>
            <a:off x="548640" y="777240"/>
            <a:ext cx="10058400" cy="640080"/>
          </a:xfrm>
          <a:prstGeom prst="rect">
            <a:avLst/>
          </a:prstGeom>
          <a:noFill/>
          <a:ln/>
        </p:spPr>
        <p:txBody>
          <a:bodyPr wrap="square" lIns="0" tIns="0" rIns="0" bIns="0" rtlCol="0" anchor="ctr"/>
          <a:lstStyle/>
          <a:p>
            <a:pPr indent="0" marL="0">
              <a:buNone/>
            </a:pPr>
            <a:r>
              <a:rPr lang="en-US" sz="3000" b="1" dirty="0">
                <a:solidFill>
                  <a:srgbClr val="0A2C6E"/>
                </a:solidFill>
                <a:latin typeface="Segoe UI" pitchFamily="34" charset="0"/>
                <a:ea typeface="Segoe UI" pitchFamily="34" charset="-122"/>
                <a:cs typeface="Segoe UI" pitchFamily="34" charset="-120"/>
              </a:rPr>
              <a:t>Calidad medible, no subjetiva</a:t>
            </a:r>
            <a:endParaRPr lang="en-US" sz="3000" dirty="0"/>
          </a:p>
        </p:txBody>
      </p:sp>
      <p:sp>
        <p:nvSpPr>
          <p:cNvPr id="4" name="Text 2"/>
          <p:cNvSpPr/>
          <p:nvPr/>
        </p:nvSpPr>
        <p:spPr>
          <a:xfrm>
            <a:off x="548640" y="1371600"/>
            <a:ext cx="10332720" cy="548640"/>
          </a:xfrm>
          <a:prstGeom prst="rect">
            <a:avLst/>
          </a:prstGeom>
          <a:noFill/>
          <a:ln/>
        </p:spPr>
        <p:txBody>
          <a:bodyPr wrap="square" lIns="0" tIns="0" rIns="0" bIns="0" rtlCol="0" anchor="ctr"/>
          <a:lstStyle/>
          <a:p>
            <a:pPr indent="0" marL="0">
              <a:buNone/>
            </a:pPr>
            <a:r>
              <a:rPr lang="en-US" sz="1500" dirty="0">
                <a:solidFill>
                  <a:srgbClr val="404040"/>
                </a:solidFill>
                <a:latin typeface="Segoe UI" pitchFamily="34" charset="0"/>
                <a:ea typeface="Segoe UI" pitchFamily="34" charset="-122"/>
                <a:cs typeface="Segoe UI" pitchFamily="34" charset="-120"/>
              </a:rPr>
              <a:t>Un evaluador custom, generado por IA a partir de una instrucción en lenguaje natural, certifica si el agente cumple su propósito</a:t>
            </a:r>
            <a:endParaRPr lang="en-US" sz="1500" dirty="0"/>
          </a:p>
        </p:txBody>
      </p:sp>
      <p:sp>
        <p:nvSpPr>
          <p:cNvPr id="5" name="Shape 3"/>
          <p:cNvSpPr/>
          <p:nvPr/>
        </p:nvSpPr>
        <p:spPr>
          <a:xfrm>
            <a:off x="548640" y="2194560"/>
            <a:ext cx="3291840" cy="3931920"/>
          </a:xfrm>
          <a:prstGeom prst="roundRect">
            <a:avLst>
              <a:gd name="adj" fmla="val 2222"/>
            </a:avLst>
          </a:prstGeom>
          <a:solidFill>
            <a:srgbClr val="0A2C6E"/>
          </a:solidFill>
          <a:ln/>
        </p:spPr>
      </p:sp>
      <p:sp>
        <p:nvSpPr>
          <p:cNvPr id="6" name="Text 4"/>
          <p:cNvSpPr/>
          <p:nvPr/>
        </p:nvSpPr>
        <p:spPr>
          <a:xfrm>
            <a:off x="822960" y="2468880"/>
            <a:ext cx="2743200" cy="274320"/>
          </a:xfrm>
          <a:prstGeom prst="rect">
            <a:avLst/>
          </a:prstGeom>
          <a:noFill/>
          <a:ln/>
        </p:spPr>
        <p:txBody>
          <a:bodyPr wrap="square" lIns="0" tIns="0" rIns="0" bIns="0" rtlCol="0" anchor="ctr"/>
          <a:lstStyle/>
          <a:p>
            <a:pPr indent="0" marL="0">
              <a:buNone/>
            </a:pPr>
            <a:r>
              <a:rPr lang="en-US" sz="1050" spc="100" kern="0" dirty="0">
                <a:solidFill>
                  <a:srgbClr val="5CC6F5"/>
                </a:solidFill>
                <a:latin typeface="Segoe UI" pitchFamily="34" charset="0"/>
                <a:ea typeface="Segoe UI" pitchFamily="34" charset="-122"/>
                <a:cs typeface="Segoe UI" pitchFamily="34" charset="-120"/>
              </a:rPr>
              <a:t>SCORE DEL EVALUADOR</a:t>
            </a:r>
            <a:endParaRPr lang="en-US" sz="1050" dirty="0"/>
          </a:p>
        </p:txBody>
      </p:sp>
      <p:sp>
        <p:nvSpPr>
          <p:cNvPr id="7" name="Text 5"/>
          <p:cNvSpPr/>
          <p:nvPr/>
        </p:nvSpPr>
        <p:spPr>
          <a:xfrm>
            <a:off x="822960" y="2834640"/>
            <a:ext cx="2743200" cy="1188720"/>
          </a:xfrm>
          <a:prstGeom prst="rect">
            <a:avLst/>
          </a:prstGeom>
          <a:noFill/>
          <a:ln/>
        </p:spPr>
        <p:txBody>
          <a:bodyPr wrap="square" lIns="0" tIns="0" rIns="0" bIns="0" rtlCol="0" anchor="ctr"/>
          <a:lstStyle/>
          <a:p>
            <a:pPr indent="0" marL="0">
              <a:buNone/>
            </a:pPr>
            <a:r>
              <a:rPr lang="en-US" sz="6400" b="1" dirty="0">
                <a:solidFill>
                  <a:srgbClr val="FFFFFF"/>
                </a:solidFill>
                <a:latin typeface="Segoe UI" pitchFamily="34" charset="0"/>
                <a:ea typeface="Segoe UI" pitchFamily="34" charset="-122"/>
                <a:cs typeface="Segoe UI" pitchFamily="34" charset="-120"/>
              </a:rPr>
              <a:t>100%</a:t>
            </a:r>
            <a:endParaRPr lang="en-US" sz="6400" dirty="0"/>
          </a:p>
        </p:txBody>
      </p:sp>
      <p:sp>
        <p:nvSpPr>
          <p:cNvPr id="8" name="Text 6"/>
          <p:cNvSpPr/>
          <p:nvPr/>
        </p:nvSpPr>
        <p:spPr>
          <a:xfrm>
            <a:off x="822960" y="3886200"/>
            <a:ext cx="2743200" cy="365760"/>
          </a:xfrm>
          <a:prstGeom prst="rect">
            <a:avLst/>
          </a:prstGeom>
          <a:noFill/>
          <a:ln/>
        </p:spPr>
        <p:txBody>
          <a:bodyPr wrap="square" lIns="0" tIns="0" rIns="0" bIns="0" rtlCol="0" anchor="ctr"/>
          <a:lstStyle/>
          <a:p>
            <a:pPr indent="0" marL="0">
              <a:buNone/>
            </a:pPr>
            <a:r>
              <a:rPr lang="en-US" sz="1300" dirty="0">
                <a:solidFill>
                  <a:srgbClr val="CFE3FA"/>
                </a:solidFill>
                <a:latin typeface="Segoe UI" pitchFamily="34" charset="0"/>
                <a:ea typeface="Segoe UI" pitchFamily="34" charset="-122"/>
                <a:cs typeface="Segoe UI" pitchFamily="34" charset="-120"/>
              </a:rPr>
              <a:t>3 / 3 ejecuciones aprobadas</a:t>
            </a:r>
            <a:endParaRPr lang="en-US" sz="1300" dirty="0"/>
          </a:p>
        </p:txBody>
      </p:sp>
      <p:sp>
        <p:nvSpPr>
          <p:cNvPr id="9" name="Shape 7"/>
          <p:cNvSpPr/>
          <p:nvPr/>
        </p:nvSpPr>
        <p:spPr>
          <a:xfrm>
            <a:off x="822960" y="4434840"/>
            <a:ext cx="2743200" cy="0"/>
          </a:xfrm>
          <a:prstGeom prst="line">
            <a:avLst/>
          </a:prstGeom>
          <a:noFill/>
          <a:ln w="12700">
            <a:solidFill>
              <a:srgbClr val="2A4A8A"/>
            </a:solidFill>
            <a:prstDash val="solid"/>
          </a:ln>
        </p:spPr>
      </p:sp>
      <p:sp>
        <p:nvSpPr>
          <p:cNvPr id="10" name="Text 8"/>
          <p:cNvSpPr/>
          <p:nvPr/>
        </p:nvSpPr>
        <p:spPr>
          <a:xfrm>
            <a:off x="822960" y="4617720"/>
            <a:ext cx="2743200" cy="1280160"/>
          </a:xfrm>
          <a:prstGeom prst="rect">
            <a:avLst/>
          </a:prstGeom>
          <a:noFill/>
          <a:ln/>
        </p:spPr>
        <p:txBody>
          <a:bodyPr wrap="square" lIns="0" tIns="0" rIns="0" bIns="0" rtlCol="0" anchor="ctr"/>
          <a:lstStyle/>
          <a:p>
            <a:pPr indent="0" marL="0">
              <a:buNone/>
            </a:pPr>
            <a:r>
              <a:rPr lang="en-US" sz="1150" i="1" dirty="0">
                <a:solidFill>
                  <a:srgbClr val="A9C2E8"/>
                </a:solidFill>
                <a:latin typeface="Segoe UI" pitchFamily="34" charset="0"/>
                <a:ea typeface="Segoe UI" pitchFamily="34" charset="-122"/>
                <a:cs typeface="Segoe UI" pitchFamily="34" charset="-120"/>
              </a:rPr>
              <a:t>“Contract-Policy-Evidence Compliance” — ejecutado sobre tráfico real, no datos sintéticos.</a:t>
            </a:r>
            <a:endParaRPr lang="en-US" sz="1150" dirty="0"/>
          </a:p>
        </p:txBody>
      </p:sp>
      <p:sp>
        <p:nvSpPr>
          <p:cNvPr id="11" name="Shape 9"/>
          <p:cNvSpPr/>
          <p:nvPr/>
        </p:nvSpPr>
        <p:spPr>
          <a:xfrm>
            <a:off x="4114800" y="2194560"/>
            <a:ext cx="7223760" cy="1828800"/>
          </a:xfrm>
          <a:prstGeom prst="roundRect">
            <a:avLst>
              <a:gd name="adj" fmla="val 3000"/>
            </a:avLst>
          </a:prstGeom>
          <a:solidFill>
            <a:srgbClr val="F5F8FC"/>
          </a:solidFill>
          <a:ln w="12700">
            <a:solidFill>
              <a:srgbClr val="E3E9F2"/>
            </a:solidFill>
            <a:prstDash val="solid"/>
          </a:ln>
        </p:spPr>
      </p:sp>
      <p:sp>
        <p:nvSpPr>
          <p:cNvPr id="12" name="Shape 10"/>
          <p:cNvSpPr/>
          <p:nvPr/>
        </p:nvSpPr>
        <p:spPr>
          <a:xfrm>
            <a:off x="4389120" y="2468880"/>
            <a:ext cx="548640" cy="548640"/>
          </a:xfrm>
          <a:prstGeom prst="ellipse">
            <a:avLst/>
          </a:prstGeom>
          <a:solidFill>
            <a:srgbClr val="0078D4"/>
          </a:solidFill>
          <a:ln/>
        </p:spPr>
      </p:sp>
      <p:sp>
        <p:nvSpPr>
          <p:cNvPr id="13" name="Text 11"/>
          <p:cNvSpPr/>
          <p:nvPr/>
        </p:nvSpPr>
        <p:spPr>
          <a:xfrm>
            <a:off x="4389120" y="2468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9</a:t>
            </a:r>
            <a:endParaRPr lang="en-US" sz="1800" dirty="0"/>
          </a:p>
        </p:txBody>
      </p:sp>
      <p:sp>
        <p:nvSpPr>
          <p:cNvPr id="14" name="Text 12"/>
          <p:cNvSpPr/>
          <p:nvPr/>
        </p:nvSpPr>
        <p:spPr>
          <a:xfrm>
            <a:off x="4389120" y="3044952"/>
            <a:ext cx="548640" cy="228600"/>
          </a:xfrm>
          <a:prstGeom prst="rect">
            <a:avLst/>
          </a:prstGeom>
          <a:noFill/>
          <a:ln/>
        </p:spPr>
        <p:txBody>
          <a:bodyPr wrap="square" lIns="0" tIns="0" rIns="0" bIns="0" rtlCol="0" anchor="ctr"/>
          <a:lstStyle/>
          <a:p>
            <a:pPr algn="ctr" indent="0" marL="0">
              <a:buNone/>
            </a:pPr>
            <a:r>
              <a:rPr lang="en-US" sz="850" dirty="0">
                <a:solidFill>
                  <a:srgbClr val="767676"/>
                </a:solidFill>
                <a:latin typeface="Segoe UI" pitchFamily="34" charset="0"/>
                <a:ea typeface="Segoe UI" pitchFamily="34" charset="-122"/>
                <a:cs typeface="Segoe UI" pitchFamily="34" charset="-120"/>
              </a:rPr>
              <a:t>peso</a:t>
            </a:r>
            <a:endParaRPr lang="en-US" sz="850" dirty="0"/>
          </a:p>
        </p:txBody>
      </p:sp>
      <p:sp>
        <p:nvSpPr>
          <p:cNvPr id="15" name="Text 13"/>
          <p:cNvSpPr/>
          <p:nvPr/>
        </p:nvSpPr>
        <p:spPr>
          <a:xfrm>
            <a:off x="5120640" y="2450592"/>
            <a:ext cx="5943600" cy="411480"/>
          </a:xfrm>
          <a:prstGeom prst="rect">
            <a:avLst/>
          </a:prstGeom>
          <a:noFill/>
          <a:ln/>
        </p:spPr>
        <p:txBody>
          <a:bodyPr wrap="square" lIns="0" tIns="0" rIns="0" bIns="0" rtlCol="0" anchor="ctr"/>
          <a:lstStyle/>
          <a:p>
            <a:pPr indent="0" marL="0">
              <a:buNone/>
            </a:pPr>
            <a:r>
              <a:rPr lang="en-US" sz="1450" b="1" dirty="0">
                <a:solidFill>
                  <a:srgbClr val="1A1A1A"/>
                </a:solidFill>
                <a:latin typeface="Segoe UI" pitchFamily="34" charset="0"/>
                <a:ea typeface="Segoe UI" pitchFamily="34" charset="-122"/>
                <a:cs typeface="Segoe UI" pitchFamily="34" charset="-120"/>
              </a:rPr>
              <a:t>line_item_audit_correctness</a:t>
            </a:r>
            <a:endParaRPr lang="en-US" sz="1450" dirty="0"/>
          </a:p>
        </p:txBody>
      </p:sp>
      <p:sp>
        <p:nvSpPr>
          <p:cNvPr id="16" name="Text 14"/>
          <p:cNvSpPr/>
          <p:nvPr/>
        </p:nvSpPr>
        <p:spPr>
          <a:xfrm>
            <a:off x="5120640" y="2907792"/>
            <a:ext cx="5943600" cy="1005840"/>
          </a:xfrm>
          <a:prstGeom prst="rect">
            <a:avLst/>
          </a:prstGeom>
          <a:noFill/>
          <a:ln/>
        </p:spPr>
        <p:txBody>
          <a:bodyPr wrap="square" lIns="0" tIns="0" rIns="0" bIns="0" rtlCol="0" anchor="ctr"/>
          <a:lstStyle/>
          <a:p>
            <a:pPr indent="0" marL="0">
              <a:buNone/>
            </a:pPr>
            <a:r>
              <a:rPr lang="en-US" sz="1200" dirty="0">
                <a:solidFill>
                  <a:srgbClr val="404040"/>
                </a:solidFill>
                <a:latin typeface="Segoe UI" pitchFamily="34" charset="0"/>
                <a:ea typeface="Segoe UI" pitchFamily="34" charset="-122"/>
                <a:cs typeface="Segoe UI" pitchFamily="34" charset="-120"/>
              </a:rPr>
              <a:t>¿El agente asignó la disposición correcta (Aprobar / Escalar / Necesita info) según la evidencia visible?</a:t>
            </a:r>
            <a:endParaRPr lang="en-US" sz="1200" dirty="0"/>
          </a:p>
        </p:txBody>
      </p:sp>
      <p:sp>
        <p:nvSpPr>
          <p:cNvPr id="17" name="Shape 15"/>
          <p:cNvSpPr/>
          <p:nvPr/>
        </p:nvSpPr>
        <p:spPr>
          <a:xfrm>
            <a:off x="4114800" y="4297680"/>
            <a:ext cx="7223760" cy="1828800"/>
          </a:xfrm>
          <a:prstGeom prst="roundRect">
            <a:avLst>
              <a:gd name="adj" fmla="val 3000"/>
            </a:avLst>
          </a:prstGeom>
          <a:solidFill>
            <a:srgbClr val="F5F8FC"/>
          </a:solidFill>
          <a:ln w="12700">
            <a:solidFill>
              <a:srgbClr val="E3E9F2"/>
            </a:solidFill>
            <a:prstDash val="solid"/>
          </a:ln>
        </p:spPr>
      </p:sp>
      <p:sp>
        <p:nvSpPr>
          <p:cNvPr id="18" name="Shape 16"/>
          <p:cNvSpPr/>
          <p:nvPr/>
        </p:nvSpPr>
        <p:spPr>
          <a:xfrm>
            <a:off x="4389120" y="4572000"/>
            <a:ext cx="548640" cy="548640"/>
          </a:xfrm>
          <a:prstGeom prst="ellipse">
            <a:avLst/>
          </a:prstGeom>
          <a:solidFill>
            <a:srgbClr val="0078D4"/>
          </a:solidFill>
          <a:ln/>
        </p:spPr>
      </p:sp>
      <p:sp>
        <p:nvSpPr>
          <p:cNvPr id="19" name="Text 17"/>
          <p:cNvSpPr/>
          <p:nvPr/>
        </p:nvSpPr>
        <p:spPr>
          <a:xfrm>
            <a:off x="4389120" y="4572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6</a:t>
            </a:r>
            <a:endParaRPr lang="en-US" sz="1800" dirty="0"/>
          </a:p>
        </p:txBody>
      </p:sp>
      <p:sp>
        <p:nvSpPr>
          <p:cNvPr id="20" name="Text 18"/>
          <p:cNvSpPr/>
          <p:nvPr/>
        </p:nvSpPr>
        <p:spPr>
          <a:xfrm>
            <a:off x="4389120" y="5148072"/>
            <a:ext cx="548640" cy="228600"/>
          </a:xfrm>
          <a:prstGeom prst="rect">
            <a:avLst/>
          </a:prstGeom>
          <a:noFill/>
          <a:ln/>
        </p:spPr>
        <p:txBody>
          <a:bodyPr wrap="square" lIns="0" tIns="0" rIns="0" bIns="0" rtlCol="0" anchor="ctr"/>
          <a:lstStyle/>
          <a:p>
            <a:pPr algn="ctr" indent="0" marL="0">
              <a:buNone/>
            </a:pPr>
            <a:r>
              <a:rPr lang="en-US" sz="850" dirty="0">
                <a:solidFill>
                  <a:srgbClr val="767676"/>
                </a:solidFill>
                <a:latin typeface="Segoe UI" pitchFamily="34" charset="0"/>
                <a:ea typeface="Segoe UI" pitchFamily="34" charset="-122"/>
                <a:cs typeface="Segoe UI" pitchFamily="34" charset="-120"/>
              </a:rPr>
              <a:t>peso</a:t>
            </a:r>
            <a:endParaRPr lang="en-US" sz="850" dirty="0"/>
          </a:p>
        </p:txBody>
      </p:sp>
      <p:sp>
        <p:nvSpPr>
          <p:cNvPr id="21" name="Text 19"/>
          <p:cNvSpPr/>
          <p:nvPr/>
        </p:nvSpPr>
        <p:spPr>
          <a:xfrm>
            <a:off x="5120640" y="4553712"/>
            <a:ext cx="5943600" cy="411480"/>
          </a:xfrm>
          <a:prstGeom prst="rect">
            <a:avLst/>
          </a:prstGeom>
          <a:noFill/>
          <a:ln/>
        </p:spPr>
        <p:txBody>
          <a:bodyPr wrap="square" lIns="0" tIns="0" rIns="0" bIns="0" rtlCol="0" anchor="ctr"/>
          <a:lstStyle/>
          <a:p>
            <a:pPr indent="0" marL="0">
              <a:buNone/>
            </a:pPr>
            <a:r>
              <a:rPr lang="en-US" sz="1450" b="1" dirty="0">
                <a:solidFill>
                  <a:srgbClr val="1A1A1A"/>
                </a:solidFill>
                <a:latin typeface="Segoe UI" pitchFamily="34" charset="0"/>
                <a:ea typeface="Segoe UI" pitchFamily="34" charset="-122"/>
                <a:cs typeface="Segoe UI" pitchFamily="34" charset="-120"/>
              </a:rPr>
              <a:t>evidence_grounding_and_citation</a:t>
            </a:r>
            <a:endParaRPr lang="en-US" sz="1450" dirty="0"/>
          </a:p>
        </p:txBody>
      </p:sp>
      <p:sp>
        <p:nvSpPr>
          <p:cNvPr id="22" name="Text 20"/>
          <p:cNvSpPr/>
          <p:nvPr/>
        </p:nvSpPr>
        <p:spPr>
          <a:xfrm>
            <a:off x="5120640" y="5010912"/>
            <a:ext cx="5943600" cy="1005840"/>
          </a:xfrm>
          <a:prstGeom prst="rect">
            <a:avLst/>
          </a:prstGeom>
          <a:noFill/>
          <a:ln/>
        </p:spPr>
        <p:txBody>
          <a:bodyPr wrap="square" lIns="0" tIns="0" rIns="0" bIns="0" rtlCol="0" anchor="ctr"/>
          <a:lstStyle/>
          <a:p>
            <a:pPr indent="0" marL="0">
              <a:buNone/>
            </a:pPr>
            <a:r>
              <a:rPr lang="en-US" sz="1200" dirty="0">
                <a:solidFill>
                  <a:srgbClr val="404040"/>
                </a:solidFill>
                <a:latin typeface="Segoe UI" pitchFamily="34" charset="0"/>
                <a:ea typeface="Segoe UI" pitchFamily="34" charset="-122"/>
                <a:cs typeface="Segoe UI" pitchFamily="34" charset="-120"/>
              </a:rPr>
              <a:t>¿Cada hallazgo cita una cláusula contractual y una fila específica del registro de aprobaciones?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lIns="0" tIns="0" rIns="0" bIns="0" rtlCol="0" anchor="ctr"/>
          <a:lstStyle/>
          <a:p>
            <a:pPr indent="0" marL="0">
              <a:buNone/>
            </a:pPr>
            <a:r>
              <a:rPr lang="en-US" sz="1100" spc="100" kern="0" dirty="0">
                <a:solidFill>
                  <a:srgbClr val="0078D4"/>
                </a:solidFill>
                <a:latin typeface="Segoe UI" pitchFamily="34" charset="0"/>
                <a:ea typeface="Segoe UI" pitchFamily="34" charset="-122"/>
                <a:cs typeface="Segoe UI" pitchFamily="34" charset="-120"/>
              </a:rPr>
              <a:t>MADUREZ DE LAS FUNCIONALIDADES</a:t>
            </a:r>
            <a:endParaRPr lang="en-US" sz="1100" dirty="0"/>
          </a:p>
        </p:txBody>
      </p:sp>
      <p:sp>
        <p:nvSpPr>
          <p:cNvPr id="3" name="Text 1"/>
          <p:cNvSpPr/>
          <p:nvPr/>
        </p:nvSpPr>
        <p:spPr>
          <a:xfrm>
            <a:off x="548640" y="777240"/>
            <a:ext cx="10058400" cy="640080"/>
          </a:xfrm>
          <a:prstGeom prst="rect">
            <a:avLst/>
          </a:prstGeom>
          <a:noFill/>
          <a:ln/>
        </p:spPr>
        <p:txBody>
          <a:bodyPr wrap="square" lIns="0" tIns="0" rIns="0" bIns="0" rtlCol="0" anchor="ctr"/>
          <a:lstStyle/>
          <a:p>
            <a:pPr indent="0" marL="0">
              <a:buNone/>
            </a:pPr>
            <a:r>
              <a:rPr lang="en-US" sz="2800" b="1" dirty="0">
                <a:solidFill>
                  <a:srgbClr val="0A2C6E"/>
                </a:solidFill>
                <a:latin typeface="Segoe UI" pitchFamily="34" charset="0"/>
                <a:ea typeface="Segoe UI" pitchFamily="34" charset="-122"/>
                <a:cs typeface="Segoe UI" pitchFamily="34" charset="-120"/>
              </a:rPr>
              <a:t>Qué está en Preview y qué ya es GA</a:t>
            </a:r>
            <a:endParaRPr lang="en-US" sz="2800" dirty="0"/>
          </a:p>
        </p:txBody>
      </p:sp>
      <p:sp>
        <p:nvSpPr>
          <p:cNvPr id="4" name="Text 2"/>
          <p:cNvSpPr/>
          <p:nvPr/>
        </p:nvSpPr>
        <p:spPr>
          <a:xfrm>
            <a:off x="548640" y="1371600"/>
            <a:ext cx="10058400" cy="457200"/>
          </a:xfrm>
          <a:prstGeom prst="rect">
            <a:avLst/>
          </a:prstGeom>
          <a:noFill/>
          <a:ln/>
        </p:spPr>
        <p:txBody>
          <a:bodyPr wrap="square" lIns="0" tIns="0" rIns="0" bIns="0" rtlCol="0" anchor="ctr"/>
          <a:lstStyle/>
          <a:p>
            <a:pPr indent="0" marL="0">
              <a:buNone/>
            </a:pPr>
            <a:r>
              <a:rPr lang="en-US" sz="1500" dirty="0">
                <a:solidFill>
                  <a:srgbClr val="404040"/>
                </a:solidFill>
                <a:latin typeface="Segoe UI" pitchFamily="34" charset="0"/>
                <a:ea typeface="Segoe UI" pitchFamily="34" charset="-122"/>
                <a:cs typeface="Segoe UI" pitchFamily="34" charset="-120"/>
              </a:rPr>
              <a:t>Para planificar el rollout con el cliente sin sorpresas de disponibilidad o soporte</a:t>
            </a:r>
            <a:endParaRPr lang="en-US" sz="1500" dirty="0"/>
          </a:p>
        </p:txBody>
      </p:sp>
      <p:sp>
        <p:nvSpPr>
          <p:cNvPr id="5" name="Shape 3"/>
          <p:cNvSpPr/>
          <p:nvPr/>
        </p:nvSpPr>
        <p:spPr>
          <a:xfrm>
            <a:off x="548640" y="2103120"/>
            <a:ext cx="3429000" cy="82296"/>
          </a:xfrm>
          <a:prstGeom prst="roundRect">
            <a:avLst/>
          </a:prstGeom>
          <a:solidFill>
            <a:srgbClr val="0078D4"/>
          </a:solidFill>
          <a:ln/>
        </p:spPr>
      </p:sp>
      <p:sp>
        <p:nvSpPr>
          <p:cNvPr id="6" name="Text 4"/>
          <p:cNvSpPr/>
          <p:nvPr/>
        </p:nvSpPr>
        <p:spPr>
          <a:xfrm>
            <a:off x="548640" y="2331720"/>
            <a:ext cx="3429000" cy="457200"/>
          </a:xfrm>
          <a:prstGeom prst="rect">
            <a:avLst/>
          </a:prstGeom>
          <a:noFill/>
          <a:ln/>
        </p:spPr>
        <p:txBody>
          <a:bodyPr wrap="square" lIns="0" tIns="0" rIns="0" bIns="0"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En Preview</a:t>
            </a:r>
            <a:endParaRPr lang="en-US" sz="1600" dirty="0"/>
          </a:p>
        </p:txBody>
      </p:sp>
      <p:sp>
        <p:nvSpPr>
          <p:cNvPr id="7" name="Text 5"/>
          <p:cNvSpPr/>
          <p:nvPr/>
        </p:nvSpPr>
        <p:spPr>
          <a:xfrm>
            <a:off x="548640" y="2788920"/>
            <a:ext cx="3429000" cy="1371600"/>
          </a:xfrm>
          <a:prstGeom prst="rect">
            <a:avLst/>
          </a:prstGeom>
          <a:noFill/>
          <a:ln/>
        </p:spPr>
        <p:txBody>
          <a:bodyPr wrap="square" lIns="0" tIns="0" rIns="0" bIns="0" rtlCol="0" anchor="ctr"/>
          <a:lstStyle/>
          <a:p>
            <a:pPr indent="0" marL="0">
              <a:buNone/>
            </a:pPr>
            <a:r>
              <a:rPr lang="en-US" sz="1250" dirty="0">
                <a:solidFill>
                  <a:srgbClr val="404040"/>
                </a:solidFill>
                <a:latin typeface="Segoe UI" pitchFamily="34" charset="0"/>
                <a:ea typeface="Segoe UI" pitchFamily="34" charset="-122"/>
                <a:cs typeface="Segoe UI" pitchFamily="34" charset="-120"/>
              </a:rPr>
              <a:t>Foundry IQ / Knowledge Bases (API 2026-08-01-preview) · pestañas Insights y Workflows del agente · Evaluations · creación manual de identidades de agente en Entra · Scheduled red teaming.</a:t>
            </a:r>
            <a:endParaRPr lang="en-US" sz="1250" dirty="0"/>
          </a:p>
        </p:txBody>
      </p:sp>
      <p:sp>
        <p:nvSpPr>
          <p:cNvPr id="8" name="Shape 6"/>
          <p:cNvSpPr/>
          <p:nvPr/>
        </p:nvSpPr>
        <p:spPr>
          <a:xfrm>
            <a:off x="4251960" y="2103120"/>
            <a:ext cx="3429000" cy="82296"/>
          </a:xfrm>
          <a:prstGeom prst="roundRect">
            <a:avLst/>
          </a:prstGeom>
          <a:solidFill>
            <a:srgbClr val="0078D4"/>
          </a:solidFill>
          <a:ln/>
        </p:spPr>
      </p:sp>
      <p:sp>
        <p:nvSpPr>
          <p:cNvPr id="9" name="Text 7"/>
          <p:cNvSpPr/>
          <p:nvPr/>
        </p:nvSpPr>
        <p:spPr>
          <a:xfrm>
            <a:off x="4251960" y="2331720"/>
            <a:ext cx="3429000" cy="457200"/>
          </a:xfrm>
          <a:prstGeom prst="rect">
            <a:avLst/>
          </a:prstGeom>
          <a:noFill/>
          <a:ln/>
        </p:spPr>
        <p:txBody>
          <a:bodyPr wrap="square" lIns="0" tIns="0" rIns="0" bIns="0"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Ya disponible (GA)</a:t>
            </a:r>
            <a:endParaRPr lang="en-US" sz="1600" dirty="0"/>
          </a:p>
        </p:txBody>
      </p:sp>
      <p:sp>
        <p:nvSpPr>
          <p:cNvPr id="10" name="Text 8"/>
          <p:cNvSpPr/>
          <p:nvPr/>
        </p:nvSpPr>
        <p:spPr>
          <a:xfrm>
            <a:off x="4251960" y="2788920"/>
            <a:ext cx="3429000" cy="1371600"/>
          </a:xfrm>
          <a:prstGeom prst="rect">
            <a:avLst/>
          </a:prstGeom>
          <a:noFill/>
          <a:ln/>
        </p:spPr>
        <p:txBody>
          <a:bodyPr wrap="square" lIns="0" tIns="0" rIns="0" bIns="0" rtlCol="0" anchor="ctr"/>
          <a:lstStyle/>
          <a:p>
            <a:pPr indent="0" marL="0">
              <a:buNone/>
            </a:pPr>
            <a:r>
              <a:rPr lang="en-US" sz="1250" dirty="0">
                <a:solidFill>
                  <a:srgbClr val="404040"/>
                </a:solidFill>
                <a:latin typeface="Segoe UI" pitchFamily="34" charset="0"/>
                <a:ea typeface="Segoe UI" pitchFamily="34" charset="-122"/>
                <a:cs typeface="Segoe UI" pitchFamily="34" charset="-120"/>
              </a:rPr>
              <a:t>Playground, Traces y Monitor del agente · Entra ID Agents (vista y gobierno de identidades) · Microsoft Defender for Cloud: Inventory, Recommendations, Attack Path Analysis, Cloud Security Explorer.</a:t>
            </a:r>
            <a:endParaRPr lang="en-US" sz="1250" dirty="0"/>
          </a:p>
        </p:txBody>
      </p:sp>
      <p:sp>
        <p:nvSpPr>
          <p:cNvPr id="11" name="Shape 9"/>
          <p:cNvSpPr/>
          <p:nvPr/>
        </p:nvSpPr>
        <p:spPr>
          <a:xfrm>
            <a:off x="7955280" y="2103120"/>
            <a:ext cx="3429000" cy="82296"/>
          </a:xfrm>
          <a:prstGeom prst="roundRect">
            <a:avLst/>
          </a:prstGeom>
          <a:solidFill>
            <a:srgbClr val="0078D4"/>
          </a:solidFill>
          <a:ln/>
        </p:spPr>
      </p:sp>
      <p:sp>
        <p:nvSpPr>
          <p:cNvPr id="12" name="Text 10"/>
          <p:cNvSpPr/>
          <p:nvPr/>
        </p:nvSpPr>
        <p:spPr>
          <a:xfrm>
            <a:off x="7955280" y="2331720"/>
            <a:ext cx="3429000" cy="457200"/>
          </a:xfrm>
          <a:prstGeom prst="rect">
            <a:avLst/>
          </a:prstGeom>
          <a:noFill/>
          <a:ln/>
        </p:spPr>
        <p:txBody>
          <a:bodyPr wrap="square" lIns="0" tIns="0" rIns="0" bIns="0"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Qué significa para el rollout</a:t>
            </a:r>
            <a:endParaRPr lang="en-US" sz="1600" dirty="0"/>
          </a:p>
        </p:txBody>
      </p:sp>
      <p:sp>
        <p:nvSpPr>
          <p:cNvPr id="13" name="Text 11"/>
          <p:cNvSpPr/>
          <p:nvPr/>
        </p:nvSpPr>
        <p:spPr>
          <a:xfrm>
            <a:off x="7955280" y="2788920"/>
            <a:ext cx="3429000" cy="1371600"/>
          </a:xfrm>
          <a:prstGeom prst="rect">
            <a:avLst/>
          </a:prstGeom>
          <a:noFill/>
          <a:ln/>
        </p:spPr>
        <p:txBody>
          <a:bodyPr wrap="square" lIns="0" tIns="0" rIns="0" bIns="0" rtlCol="0" anchor="ctr"/>
          <a:lstStyle/>
          <a:p>
            <a:pPr indent="0" marL="0">
              <a:buNone/>
            </a:pPr>
            <a:r>
              <a:rPr lang="en-US" sz="1250" dirty="0">
                <a:solidFill>
                  <a:srgbClr val="404040"/>
                </a:solidFill>
                <a:latin typeface="Segoe UI" pitchFamily="34" charset="0"/>
                <a:ea typeface="Segoe UI" pitchFamily="34" charset="-122"/>
                <a:cs typeface="Segoe UI" pitchFamily="34" charset="-120"/>
              </a:rPr>
              <a:t>Lo marcado Preview no tiene SLA y puede cambiar antes de llegar a GA. Úsalo hoy para prototipar y validar valor — no comprometas fechas de producción firmes sobre esas piezas todavía.</a:t>
            </a:r>
            <a:endParaRPr lang="en-US" sz="1250" dirty="0"/>
          </a:p>
        </p:txBody>
      </p:sp>
      <p:sp>
        <p:nvSpPr>
          <p:cNvPr id="14" name="Shape 12"/>
          <p:cNvSpPr/>
          <p:nvPr/>
        </p:nvSpPr>
        <p:spPr>
          <a:xfrm>
            <a:off x="548640" y="4526280"/>
            <a:ext cx="10881360" cy="1691640"/>
          </a:xfrm>
          <a:prstGeom prst="roundRect">
            <a:avLst>
              <a:gd name="adj" fmla="val 3243"/>
            </a:avLst>
          </a:prstGeom>
          <a:solidFill>
            <a:srgbClr val="F5F8FC"/>
          </a:solidFill>
          <a:ln w="12700">
            <a:solidFill>
              <a:srgbClr val="E3E9F2"/>
            </a:solidFill>
            <a:prstDash val="solid"/>
          </a:ln>
        </p:spPr>
      </p:sp>
      <p:sp>
        <p:nvSpPr>
          <p:cNvPr id="15" name="Text 13"/>
          <p:cNvSpPr/>
          <p:nvPr/>
        </p:nvSpPr>
        <p:spPr>
          <a:xfrm>
            <a:off x="822960" y="4681728"/>
            <a:ext cx="10058400" cy="274320"/>
          </a:xfrm>
          <a:prstGeom prst="rect">
            <a:avLst/>
          </a:prstGeom>
          <a:noFill/>
          <a:ln/>
        </p:spPr>
        <p:txBody>
          <a:bodyPr wrap="square" lIns="0" tIns="0" rIns="0" bIns="0" rtlCol="0" anchor="ctr"/>
          <a:lstStyle/>
          <a:p>
            <a:pPr indent="0" marL="0">
              <a:buNone/>
            </a:pPr>
            <a:r>
              <a:rPr lang="en-US" sz="1050" spc="100" kern="0" dirty="0">
                <a:solidFill>
                  <a:srgbClr val="0078D4"/>
                </a:solidFill>
                <a:latin typeface="Segoe UI" pitchFamily="34" charset="0"/>
                <a:ea typeface="Segoe UI" pitchFamily="34" charset="-122"/>
                <a:cs typeface="Segoe UI" pitchFamily="34" charset="-120"/>
              </a:rPr>
              <a:t>RECOMENDACIÓN PARA EL CLIENTE</a:t>
            </a:r>
            <a:endParaRPr lang="en-US" sz="1050" dirty="0"/>
          </a:p>
        </p:txBody>
      </p:sp>
      <p:sp>
        <p:nvSpPr>
          <p:cNvPr id="16" name="Text 14"/>
          <p:cNvSpPr/>
          <p:nvPr/>
        </p:nvSpPr>
        <p:spPr>
          <a:xfrm>
            <a:off x="822960" y="4983480"/>
            <a:ext cx="10332720" cy="1143000"/>
          </a:xfrm>
          <a:prstGeom prst="rect">
            <a:avLst/>
          </a:prstGeom>
          <a:noFill/>
          <a:ln/>
        </p:spPr>
        <p:txBody>
          <a:bodyPr wrap="square" lIns="0" tIns="0" rIns="0" bIns="0" rtlCol="0" anchor="t"/>
          <a:lstStyle/>
          <a:p>
            <a:pPr indent="0" marL="0">
              <a:buNone/>
            </a:pPr>
            <a:r>
              <a:rPr lang="en-US" sz="1300" i="1" dirty="0">
                <a:solidFill>
                  <a:srgbClr val="1A1A1A"/>
                </a:solidFill>
                <a:latin typeface="Segoe UI" pitchFamily="34" charset="0"/>
                <a:ea typeface="Segoe UI" pitchFamily="34" charset="-122"/>
                <a:cs typeface="Segoe UI" pitchFamily="34" charset="-120"/>
              </a:rPr>
              <a:t>“Todo lo que vieron hoy corre sobre Microsoft Foundry y Defender for Cloud reales — no es un mockup. Las piezas en Preview están listas para pilotar; para producción firme, validamos juntos la fecha de disponibilidad general antes de comprometer un plan.”</a:t>
            </a:r>
            <a:pPr indent="0" marL="0">
              <a:buNone/>
            </a:pPr>
            <a:r>
              <a:rPr lang="en-US" sz="1300" b="1" dirty="0">
                <a:solidFill>
                  <a:srgbClr val="0A2C6E"/>
                </a:solidFill>
                <a:latin typeface="Segoe UI" pitchFamily="34" charset="0"/>
                <a:ea typeface="Segoe UI" pitchFamily="34" charset="-122"/>
                <a:cs typeface="Segoe UI" pitchFamily="34" charset="-120"/>
              </a:rPr>
              <a:t/>
            </a:r>
            <a:pPr indent="0" marL="0">
              <a:buNone/>
            </a:pPr>
            <a:r>
              <a:rPr lang="en-US" sz="1300" i="1" dirty="0">
                <a:solidFill>
                  <a:srgbClr val="1A1A1A"/>
                </a:solidFill>
                <a:latin typeface="Segoe UI" pitchFamily="34" charset="0"/>
                <a:ea typeface="Segoe UI" pitchFamily="34" charset="-122"/>
                <a:cs typeface="Segoe UI" pitchFamily="34" charset="-120"/>
              </a:rPr>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lIns="0" tIns="0" rIns="0" bIns="0" rtlCol="0" anchor="ctr"/>
          <a:lstStyle/>
          <a:p>
            <a:pPr indent="0" marL="0">
              <a:buNone/>
            </a:pPr>
            <a:r>
              <a:rPr lang="en-US" sz="1100" spc="100" kern="0" dirty="0">
                <a:solidFill>
                  <a:srgbClr val="0078D4"/>
                </a:solidFill>
                <a:latin typeface="Segoe UI" pitchFamily="34" charset="0"/>
                <a:ea typeface="Segoe UI" pitchFamily="34" charset="-122"/>
                <a:cs typeface="Segoe UI" pitchFamily="34" charset="-120"/>
              </a:rPr>
              <a:t>ANTES DE HABILITARLO EN PRODUCCIÓN</a:t>
            </a:r>
            <a:endParaRPr lang="en-US" sz="1100" dirty="0"/>
          </a:p>
        </p:txBody>
      </p:sp>
      <p:sp>
        <p:nvSpPr>
          <p:cNvPr id="3" name="Text 1"/>
          <p:cNvSpPr/>
          <p:nvPr/>
        </p:nvSpPr>
        <p:spPr>
          <a:xfrm>
            <a:off x="548640" y="777240"/>
            <a:ext cx="10058400" cy="640080"/>
          </a:xfrm>
          <a:prstGeom prst="rect">
            <a:avLst/>
          </a:prstGeom>
          <a:noFill/>
          <a:ln/>
        </p:spPr>
        <p:txBody>
          <a:bodyPr wrap="square" lIns="0" tIns="0" rIns="0" bIns="0" rtlCol="0" anchor="ctr"/>
          <a:lstStyle/>
          <a:p>
            <a:pPr indent="0" marL="0">
              <a:buNone/>
            </a:pPr>
            <a:r>
              <a:rPr lang="en-US" sz="2800" b="1" dirty="0">
                <a:solidFill>
                  <a:srgbClr val="0A2C6E"/>
                </a:solidFill>
                <a:latin typeface="Segoe UI" pitchFamily="34" charset="0"/>
                <a:ea typeface="Segoe UI" pitchFamily="34" charset="-122"/>
                <a:cs typeface="Segoe UI" pitchFamily="34" charset="-120"/>
              </a:rPr>
              <a:t>Costo estimado — escenario de habilitación</a:t>
            </a:r>
            <a:endParaRPr lang="en-US" sz="2800" dirty="0"/>
          </a:p>
        </p:txBody>
      </p:sp>
      <p:sp>
        <p:nvSpPr>
          <p:cNvPr id="4" name="Text 2"/>
          <p:cNvSpPr/>
          <p:nvPr/>
        </p:nvSpPr>
        <p:spPr>
          <a:xfrm>
            <a:off x="548640" y="1371600"/>
            <a:ext cx="10058400" cy="457200"/>
          </a:xfrm>
          <a:prstGeom prst="rect">
            <a:avLst/>
          </a:prstGeom>
          <a:noFill/>
          <a:ln/>
        </p:spPr>
        <p:txBody>
          <a:bodyPr wrap="square" lIns="0" tIns="0" rIns="0" bIns="0" rtlCol="0" anchor="ctr"/>
          <a:lstStyle/>
          <a:p>
            <a:pPr indent="0" marL="0">
              <a:buNone/>
            </a:pPr>
            <a:r>
              <a:rPr lang="en-US" sz="1500" dirty="0">
                <a:solidFill>
                  <a:srgbClr val="404040"/>
                </a:solidFill>
                <a:latin typeface="Segoe UI" pitchFamily="34" charset="0"/>
                <a:ea typeface="Segoe UI" pitchFamily="34" charset="-122"/>
                <a:cs typeface="Segoe UI" pitchFamily="34" charset="-120"/>
              </a:rPr>
              <a:t>Separamos lo medido en vivo en este ambiente (confiable) de lo que depende del volumen del cliente</a:t>
            </a:r>
            <a:endParaRPr lang="en-US" sz="1500" dirty="0"/>
          </a:p>
        </p:txBody>
      </p:sp>
      <p:sp>
        <p:nvSpPr>
          <p:cNvPr id="5" name="Shape 3"/>
          <p:cNvSpPr/>
          <p:nvPr/>
        </p:nvSpPr>
        <p:spPr>
          <a:xfrm>
            <a:off x="548640" y="2148840"/>
            <a:ext cx="5166360" cy="4069080"/>
          </a:xfrm>
          <a:prstGeom prst="roundRect">
            <a:avLst>
              <a:gd name="adj" fmla="val 1798"/>
            </a:avLst>
          </a:prstGeom>
          <a:solidFill>
            <a:srgbClr val="F5F8FC"/>
          </a:solidFill>
          <a:ln w="12700">
            <a:solidFill>
              <a:srgbClr val="E3E9F2"/>
            </a:solidFill>
            <a:prstDash val="solid"/>
          </a:ln>
        </p:spPr>
      </p:sp>
      <p:sp>
        <p:nvSpPr>
          <p:cNvPr id="6" name="Text 4"/>
          <p:cNvSpPr/>
          <p:nvPr/>
        </p:nvSpPr>
        <p:spPr>
          <a:xfrm>
            <a:off x="914400" y="2377440"/>
            <a:ext cx="4434840" cy="320040"/>
          </a:xfrm>
          <a:prstGeom prst="rect">
            <a:avLst/>
          </a:prstGeom>
          <a:noFill/>
          <a:ln/>
        </p:spPr>
        <p:txBody>
          <a:bodyPr wrap="square" lIns="0" tIns="0" rIns="0" bIns="0" rtlCol="0" anchor="ctr"/>
          <a:lstStyle/>
          <a:p>
            <a:pPr indent="0" marL="0">
              <a:buNone/>
            </a:pPr>
            <a:r>
              <a:rPr lang="en-US" sz="1200" b="1" spc="100" kern="0" dirty="0">
                <a:solidFill>
                  <a:srgbClr val="0078D4"/>
                </a:solidFill>
                <a:latin typeface="Segoe UI" pitchFamily="34" charset="0"/>
                <a:ea typeface="Segoe UI" pitchFamily="34" charset="-122"/>
                <a:cs typeface="Segoe UI" pitchFamily="34" charset="-120"/>
              </a:rPr>
              <a:t>CONSUMO VARIABLE</a:t>
            </a:r>
            <a:endParaRPr lang="en-US" sz="1200" dirty="0"/>
          </a:p>
        </p:txBody>
      </p:sp>
      <p:sp>
        <p:nvSpPr>
          <p:cNvPr id="7" name="Text 5"/>
          <p:cNvSpPr/>
          <p:nvPr/>
        </p:nvSpPr>
        <p:spPr>
          <a:xfrm>
            <a:off x="914400" y="2697480"/>
            <a:ext cx="4434840" cy="365760"/>
          </a:xfrm>
          <a:prstGeom prst="rect">
            <a:avLst/>
          </a:prstGeom>
          <a:noFill/>
          <a:ln/>
        </p:spPr>
        <p:txBody>
          <a:bodyPr wrap="square" lIns="0" tIns="0" rIns="0" bIns="0"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Costo real medido por ejecución</a:t>
            </a:r>
            <a:endParaRPr lang="en-US" sz="1600" dirty="0"/>
          </a:p>
        </p:txBody>
      </p:sp>
      <p:sp>
        <p:nvSpPr>
          <p:cNvPr id="8" name="Text 6"/>
          <p:cNvSpPr/>
          <p:nvPr/>
        </p:nvSpPr>
        <p:spPr>
          <a:xfrm>
            <a:off x="914400" y="3154680"/>
            <a:ext cx="4434840" cy="914400"/>
          </a:xfrm>
          <a:prstGeom prst="rect">
            <a:avLst/>
          </a:prstGeom>
          <a:noFill/>
          <a:ln/>
        </p:spPr>
        <p:txBody>
          <a:bodyPr wrap="square" lIns="0" tIns="0" rIns="0" bIns="0" rtlCol="0" anchor="ctr"/>
          <a:lstStyle/>
          <a:p>
            <a:pPr indent="0" marL="0">
              <a:buNone/>
            </a:pPr>
            <a:r>
              <a:rPr lang="en-US" sz="1250" dirty="0">
                <a:solidFill>
                  <a:srgbClr val="404040"/>
                </a:solidFill>
                <a:latin typeface="Segoe UI" pitchFamily="34" charset="0"/>
                <a:ea typeface="Segoe UI" pitchFamily="34" charset="-122"/>
                <a:cs typeface="Segoe UI" pitchFamily="34" charset="-120"/>
              </a:rPr>
              <a:t>Promedio real observado en los Traces de esta demo: modelo (gpt-4o) + recuperación de la knowledge base. No es un estimado de catálogo — es lo que Azure facturó.</a:t>
            </a:r>
            <a:endParaRPr lang="en-US" sz="1250" dirty="0"/>
          </a:p>
        </p:txBody>
      </p:sp>
      <p:sp>
        <p:nvSpPr>
          <p:cNvPr id="9" name="Text 7"/>
          <p:cNvSpPr/>
          <p:nvPr/>
        </p:nvSpPr>
        <p:spPr>
          <a:xfrm>
            <a:off x="914400" y="4251960"/>
            <a:ext cx="1463040" cy="457200"/>
          </a:xfrm>
          <a:prstGeom prst="rect">
            <a:avLst/>
          </a:prstGeom>
          <a:noFill/>
          <a:ln/>
        </p:spPr>
        <p:txBody>
          <a:bodyPr wrap="square" lIns="0" tIns="0" rIns="0" bIns="0" rtlCol="0" anchor="ctr"/>
          <a:lstStyle/>
          <a:p>
            <a:pPr indent="0" marL="0">
              <a:buNone/>
            </a:pPr>
            <a:r>
              <a:rPr lang="en-US" sz="2400" b="1" dirty="0">
                <a:solidFill>
                  <a:srgbClr val="0A2C6E"/>
                </a:solidFill>
                <a:latin typeface="Segoe UI" pitchFamily="34" charset="0"/>
                <a:ea typeface="Segoe UI" pitchFamily="34" charset="-122"/>
                <a:cs typeface="Segoe UI" pitchFamily="34" charset="-120"/>
              </a:rPr>
              <a:t>$0.012</a:t>
            </a:r>
            <a:endParaRPr lang="en-US" sz="2400" dirty="0"/>
          </a:p>
        </p:txBody>
      </p:sp>
      <p:sp>
        <p:nvSpPr>
          <p:cNvPr id="10" name="Text 8"/>
          <p:cNvSpPr/>
          <p:nvPr/>
        </p:nvSpPr>
        <p:spPr>
          <a:xfrm>
            <a:off x="2377440" y="4325112"/>
            <a:ext cx="2971800" cy="457200"/>
          </a:xfrm>
          <a:prstGeom prst="rect">
            <a:avLst/>
          </a:prstGeom>
          <a:noFill/>
          <a:ln/>
        </p:spPr>
        <p:txBody>
          <a:bodyPr wrap="square" lIns="0" tIns="0" rIns="0" bIns="0" rtlCol="0" anchor="ctr"/>
          <a:lstStyle/>
          <a:p>
            <a:pPr indent="0" marL="0">
              <a:buNone/>
            </a:pPr>
            <a:r>
              <a:rPr lang="en-US" sz="1150" dirty="0">
                <a:solidFill>
                  <a:srgbClr val="404040"/>
                </a:solidFill>
                <a:latin typeface="Segoe UI" pitchFamily="34" charset="0"/>
                <a:ea typeface="Segoe UI" pitchFamily="34" charset="-122"/>
                <a:cs typeface="Segoe UI" pitchFamily="34" charset="-120"/>
              </a:rPr>
              <a:t>promedio por auditoría de factura</a:t>
            </a:r>
            <a:endParaRPr lang="en-US" sz="1150" dirty="0"/>
          </a:p>
        </p:txBody>
      </p:sp>
      <p:sp>
        <p:nvSpPr>
          <p:cNvPr id="11" name="Text 9"/>
          <p:cNvSpPr/>
          <p:nvPr/>
        </p:nvSpPr>
        <p:spPr>
          <a:xfrm>
            <a:off x="914400" y="4873752"/>
            <a:ext cx="1463040" cy="457200"/>
          </a:xfrm>
          <a:prstGeom prst="rect">
            <a:avLst/>
          </a:prstGeom>
          <a:noFill/>
          <a:ln/>
        </p:spPr>
        <p:txBody>
          <a:bodyPr wrap="square" lIns="0" tIns="0" rIns="0" bIns="0" rtlCol="0" anchor="ctr"/>
          <a:lstStyle/>
          <a:p>
            <a:pPr indent="0" marL="0">
              <a:buNone/>
            </a:pPr>
            <a:r>
              <a:rPr lang="en-US" sz="2400" b="1" dirty="0">
                <a:solidFill>
                  <a:srgbClr val="0A2C6E"/>
                </a:solidFill>
                <a:latin typeface="Segoe UI" pitchFamily="34" charset="0"/>
                <a:ea typeface="Segoe UI" pitchFamily="34" charset="-122"/>
                <a:cs typeface="Segoe UI" pitchFamily="34" charset="-120"/>
              </a:rPr>
              <a:t>$0.60</a:t>
            </a:r>
            <a:endParaRPr lang="en-US" sz="2400" dirty="0"/>
          </a:p>
        </p:txBody>
      </p:sp>
      <p:sp>
        <p:nvSpPr>
          <p:cNvPr id="12" name="Text 10"/>
          <p:cNvSpPr/>
          <p:nvPr/>
        </p:nvSpPr>
        <p:spPr>
          <a:xfrm>
            <a:off x="2377440" y="4946904"/>
            <a:ext cx="2971800" cy="457200"/>
          </a:xfrm>
          <a:prstGeom prst="rect">
            <a:avLst/>
          </a:prstGeom>
          <a:noFill/>
          <a:ln/>
        </p:spPr>
        <p:txBody>
          <a:bodyPr wrap="square" lIns="0" tIns="0" rIns="0" bIns="0" rtlCol="0" anchor="ctr"/>
          <a:lstStyle/>
          <a:p>
            <a:pPr indent="0" marL="0">
              <a:buNone/>
            </a:pPr>
            <a:r>
              <a:rPr lang="en-US" sz="1150" dirty="0">
                <a:solidFill>
                  <a:srgbClr val="404040"/>
                </a:solidFill>
                <a:latin typeface="Segoe UI" pitchFamily="34" charset="0"/>
                <a:ea typeface="Segoe UI" pitchFamily="34" charset="-122"/>
                <a:cs typeface="Segoe UI" pitchFamily="34" charset="-120"/>
              </a:rPr>
              <a:t>proyectado a 50 facturas/mes</a:t>
            </a:r>
            <a:endParaRPr lang="en-US" sz="1150" dirty="0"/>
          </a:p>
        </p:txBody>
      </p:sp>
      <p:sp>
        <p:nvSpPr>
          <p:cNvPr id="13" name="Text 11"/>
          <p:cNvSpPr/>
          <p:nvPr/>
        </p:nvSpPr>
        <p:spPr>
          <a:xfrm>
            <a:off x="914400" y="5495544"/>
            <a:ext cx="1463040" cy="457200"/>
          </a:xfrm>
          <a:prstGeom prst="rect">
            <a:avLst/>
          </a:prstGeom>
          <a:noFill/>
          <a:ln/>
        </p:spPr>
        <p:txBody>
          <a:bodyPr wrap="square" lIns="0" tIns="0" rIns="0" bIns="0" rtlCol="0" anchor="ctr"/>
          <a:lstStyle/>
          <a:p>
            <a:pPr indent="0" marL="0">
              <a:buNone/>
            </a:pPr>
            <a:r>
              <a:rPr lang="en-US" sz="2400" b="1" dirty="0">
                <a:solidFill>
                  <a:srgbClr val="0A2C6E"/>
                </a:solidFill>
                <a:latin typeface="Segoe UI" pitchFamily="34" charset="0"/>
                <a:ea typeface="Segoe UI" pitchFamily="34" charset="-122"/>
                <a:cs typeface="Segoe UI" pitchFamily="34" charset="-120"/>
              </a:rPr>
              <a:t>$24</a:t>
            </a:r>
            <a:endParaRPr lang="en-US" sz="2400" dirty="0"/>
          </a:p>
        </p:txBody>
      </p:sp>
      <p:sp>
        <p:nvSpPr>
          <p:cNvPr id="14" name="Text 12"/>
          <p:cNvSpPr/>
          <p:nvPr/>
        </p:nvSpPr>
        <p:spPr>
          <a:xfrm>
            <a:off x="2377440" y="5568696"/>
            <a:ext cx="2971800" cy="457200"/>
          </a:xfrm>
          <a:prstGeom prst="rect">
            <a:avLst/>
          </a:prstGeom>
          <a:noFill/>
          <a:ln/>
        </p:spPr>
        <p:txBody>
          <a:bodyPr wrap="square" lIns="0" tIns="0" rIns="0" bIns="0" rtlCol="0" anchor="ctr"/>
          <a:lstStyle/>
          <a:p>
            <a:pPr indent="0" marL="0">
              <a:buNone/>
            </a:pPr>
            <a:r>
              <a:rPr lang="en-US" sz="1150" dirty="0">
                <a:solidFill>
                  <a:srgbClr val="404040"/>
                </a:solidFill>
                <a:latin typeface="Segoe UI" pitchFamily="34" charset="0"/>
                <a:ea typeface="Segoe UI" pitchFamily="34" charset="-122"/>
                <a:cs typeface="Segoe UI" pitchFamily="34" charset="-120"/>
              </a:rPr>
              <a:t>proyectado a 2,000 facturas/mes</a:t>
            </a:r>
            <a:endParaRPr lang="en-US" sz="1150" dirty="0"/>
          </a:p>
        </p:txBody>
      </p:sp>
      <p:sp>
        <p:nvSpPr>
          <p:cNvPr id="15" name="Shape 13"/>
          <p:cNvSpPr/>
          <p:nvPr/>
        </p:nvSpPr>
        <p:spPr>
          <a:xfrm>
            <a:off x="5943600" y="2148840"/>
            <a:ext cx="5486400" cy="4069080"/>
          </a:xfrm>
          <a:prstGeom prst="roundRect">
            <a:avLst>
              <a:gd name="adj" fmla="val 1798"/>
            </a:avLst>
          </a:prstGeom>
          <a:solidFill>
            <a:srgbClr val="0A2C6E"/>
          </a:solidFill>
          <a:ln/>
        </p:spPr>
      </p:sp>
      <p:sp>
        <p:nvSpPr>
          <p:cNvPr id="16" name="Text 14"/>
          <p:cNvSpPr/>
          <p:nvPr/>
        </p:nvSpPr>
        <p:spPr>
          <a:xfrm>
            <a:off x="6309360" y="2377440"/>
            <a:ext cx="4754880" cy="320040"/>
          </a:xfrm>
          <a:prstGeom prst="rect">
            <a:avLst/>
          </a:prstGeom>
          <a:noFill/>
          <a:ln/>
        </p:spPr>
        <p:txBody>
          <a:bodyPr wrap="square" lIns="0" tIns="0" rIns="0" bIns="0" rtlCol="0" anchor="ctr"/>
          <a:lstStyle/>
          <a:p>
            <a:pPr indent="0" marL="0">
              <a:buNone/>
            </a:pPr>
            <a:r>
              <a:rPr lang="en-US" sz="1200" b="1" spc="100" kern="0" dirty="0">
                <a:solidFill>
                  <a:srgbClr val="5CC6F5"/>
                </a:solidFill>
                <a:latin typeface="Segoe UI" pitchFamily="34" charset="0"/>
                <a:ea typeface="Segoe UI" pitchFamily="34" charset="-122"/>
                <a:cs typeface="Segoe UI" pitchFamily="34" charset="-120"/>
              </a:rPr>
              <a:t>PLATAFORMA Y SEGURIDAD</a:t>
            </a:r>
            <a:endParaRPr lang="en-US" sz="1200" dirty="0"/>
          </a:p>
        </p:txBody>
      </p:sp>
      <p:sp>
        <p:nvSpPr>
          <p:cNvPr id="17" name="Text 15"/>
          <p:cNvSpPr/>
          <p:nvPr/>
        </p:nvSpPr>
        <p:spPr>
          <a:xfrm>
            <a:off x="6309360" y="2697480"/>
            <a:ext cx="4754880" cy="36576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 confirmar con la calculadora de Azure</a:t>
            </a:r>
            <a:endParaRPr lang="en-US" sz="1600" dirty="0"/>
          </a:p>
        </p:txBody>
      </p:sp>
      <p:sp>
        <p:nvSpPr>
          <p:cNvPr id="18" name="Text 16"/>
          <p:cNvSpPr/>
          <p:nvPr/>
        </p:nvSpPr>
        <p:spPr>
          <a:xfrm>
            <a:off x="6309360" y="3154680"/>
            <a:ext cx="4754880" cy="822960"/>
          </a:xfrm>
          <a:prstGeom prst="rect">
            <a:avLst/>
          </a:prstGeom>
          <a:noFill/>
          <a:ln/>
        </p:spPr>
        <p:txBody>
          <a:bodyPr wrap="square" lIns="0" tIns="0" rIns="0" bIns="0" rtlCol="0" anchor="ctr"/>
          <a:lstStyle/>
          <a:p>
            <a:pPr indent="0" marL="0">
              <a:buNone/>
            </a:pPr>
            <a:r>
              <a:rPr lang="en-US" sz="1250" dirty="0">
                <a:solidFill>
                  <a:srgbClr val="CFE3FA"/>
                </a:solidFill>
                <a:latin typeface="Segoe UI" pitchFamily="34" charset="0"/>
                <a:ea typeface="Segoe UI" pitchFamily="34" charset="-122"/>
                <a:cs typeface="Segoe UI" pitchFamily="34" charset="-120"/>
              </a:rPr>
              <a:t>Azure AI Search, Application Insights y el plan “AI” de Defender for Cloud dependen del volumen y el tier elegido — no cotizar un número exacto sin confirmarlo en vivo con el cliente.</a:t>
            </a:r>
            <a:endParaRPr lang="en-US" sz="1250" dirty="0"/>
          </a:p>
        </p:txBody>
      </p:sp>
      <p:sp>
        <p:nvSpPr>
          <p:cNvPr id="19" name="Text 17"/>
          <p:cNvSpPr/>
          <p:nvPr/>
        </p:nvSpPr>
        <p:spPr>
          <a:xfrm>
            <a:off x="6309360" y="4160520"/>
            <a:ext cx="2011680" cy="548640"/>
          </a:xfrm>
          <a:prstGeom prst="rect">
            <a:avLst/>
          </a:prstGeom>
          <a:noFill/>
          <a:ln/>
        </p:spPr>
        <p:txBody>
          <a:bodyPr wrap="square" lIns="0" tIns="0" rIns="0" bIns="0" rtlCol="0" anchor="ctr"/>
          <a:lstStyle/>
          <a:p>
            <a:pPr indent="0" marL="0">
              <a:buNone/>
            </a:pPr>
            <a:r>
              <a:rPr lang="en-US" sz="3000" b="1" dirty="0">
                <a:solidFill>
                  <a:srgbClr val="00BBC3"/>
                </a:solidFill>
                <a:latin typeface="Segoe UI" pitchFamily="34" charset="0"/>
                <a:ea typeface="Segoe UI" pitchFamily="34" charset="-122"/>
                <a:cs typeface="Segoe UI" pitchFamily="34" charset="-120"/>
              </a:rPr>
              <a:t>Gratis</a:t>
            </a:r>
            <a:endParaRPr lang="en-US" sz="3000" dirty="0"/>
          </a:p>
        </p:txBody>
      </p:sp>
      <p:sp>
        <p:nvSpPr>
          <p:cNvPr id="20" name="Text 18"/>
          <p:cNvSpPr/>
          <p:nvPr/>
        </p:nvSpPr>
        <p:spPr>
          <a:xfrm>
            <a:off x="6309360" y="4727448"/>
            <a:ext cx="4754880" cy="320040"/>
          </a:xfrm>
          <a:prstGeom prst="rect">
            <a:avLst/>
          </a:prstGeom>
          <a:noFill/>
          <a:ln/>
        </p:spPr>
        <p:txBody>
          <a:bodyPr wrap="square" lIns="0" tIns="0" rIns="0" bIns="0" rtlCol="0" anchor="ctr"/>
          <a:lstStyle/>
          <a:p>
            <a:pPr indent="0" marL="0">
              <a:buNone/>
            </a:pPr>
            <a:r>
              <a:rPr lang="en-US" sz="1150" dirty="0">
                <a:solidFill>
                  <a:srgbClr val="A9C2E8"/>
                </a:solidFill>
                <a:latin typeface="Segoe UI" pitchFamily="34" charset="0"/>
                <a:ea typeface="Segoe UI" pitchFamily="34" charset="-122"/>
                <a:cs typeface="Segoe UI" pitchFamily="34" charset="-120"/>
              </a:rPr>
              <a:t>30 días de trial — Defender for Cloud (AI) activo hoy</a:t>
            </a:r>
            <a:endParaRPr lang="en-US" sz="1150" dirty="0"/>
          </a:p>
        </p:txBody>
      </p:sp>
      <p:sp>
        <p:nvSpPr>
          <p:cNvPr id="21" name="Text 19"/>
          <p:cNvSpPr/>
          <p:nvPr/>
        </p:nvSpPr>
        <p:spPr>
          <a:xfrm>
            <a:off x="6309360" y="5166360"/>
            <a:ext cx="2011680" cy="548640"/>
          </a:xfrm>
          <a:prstGeom prst="rect">
            <a:avLst/>
          </a:prstGeom>
          <a:noFill/>
          <a:ln/>
        </p:spPr>
        <p:txBody>
          <a:bodyPr wrap="square" lIns="0" tIns="0" rIns="0" bIns="0" rtlCol="0" anchor="ctr"/>
          <a:lstStyle/>
          <a:p>
            <a:pPr indent="0" marL="0">
              <a:buNone/>
            </a:pPr>
            <a:r>
              <a:rPr lang="en-US" sz="3000" b="1" dirty="0">
                <a:solidFill>
                  <a:srgbClr val="00BBC3"/>
                </a:solidFill>
                <a:latin typeface="Segoe UI" pitchFamily="34" charset="0"/>
                <a:ea typeface="Segoe UI" pitchFamily="34" charset="-122"/>
                <a:cs typeface="Segoe UI" pitchFamily="34" charset="-120"/>
              </a:rPr>
              <a:t>Por uso</a:t>
            </a:r>
            <a:endParaRPr lang="en-US" sz="3000" dirty="0"/>
          </a:p>
        </p:txBody>
      </p:sp>
      <p:sp>
        <p:nvSpPr>
          <p:cNvPr id="22" name="Text 20"/>
          <p:cNvSpPr/>
          <p:nvPr/>
        </p:nvSpPr>
        <p:spPr>
          <a:xfrm>
            <a:off x="6309360" y="5733288"/>
            <a:ext cx="4754880" cy="320040"/>
          </a:xfrm>
          <a:prstGeom prst="rect">
            <a:avLst/>
          </a:prstGeom>
          <a:noFill/>
          <a:ln/>
        </p:spPr>
        <p:txBody>
          <a:bodyPr wrap="square" lIns="0" tIns="0" rIns="0" bIns="0" rtlCol="0" anchor="ctr"/>
          <a:lstStyle/>
          <a:p>
            <a:pPr indent="0" marL="0">
              <a:buNone/>
            </a:pPr>
            <a:r>
              <a:rPr lang="en-US" sz="1150" dirty="0">
                <a:solidFill>
                  <a:srgbClr val="A9C2E8"/>
                </a:solidFill>
                <a:latin typeface="Segoe UI" pitchFamily="34" charset="0"/>
                <a:ea typeface="Segoe UI" pitchFamily="34" charset="-122"/>
                <a:cs typeface="Segoe UI" pitchFamily="34" charset="-120"/>
              </a:rPr>
              <a:t>Azure AI Search Serverless + App Insights, por GB</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A2C6E"/>
        </a:solidFill>
      </p:bgPr>
    </p:bg>
    <p:spTree>
      <p:nvGrpSpPr>
        <p:cNvPr id="1" name=""/>
        <p:cNvGrpSpPr/>
        <p:nvPr/>
      </p:nvGrpSpPr>
      <p:grpSpPr>
        <a:xfrm>
          <a:off x="0" y="0"/>
          <a:ext cx="0" cy="0"/>
          <a:chOff x="0" y="0"/>
          <a:chExt cx="0" cy="0"/>
        </a:xfrm>
      </p:grpSpPr>
      <p:sp>
        <p:nvSpPr>
          <p:cNvPr id="2" name="Text 0"/>
          <p:cNvSpPr/>
          <p:nvPr/>
        </p:nvSpPr>
        <p:spPr>
          <a:xfrm>
            <a:off x="640080" y="822960"/>
            <a:ext cx="9144000" cy="365760"/>
          </a:xfrm>
          <a:prstGeom prst="rect">
            <a:avLst/>
          </a:prstGeom>
          <a:noFill/>
          <a:ln/>
        </p:spPr>
        <p:txBody>
          <a:bodyPr wrap="square" lIns="0" tIns="0" rIns="0" bIns="0" rtlCol="0" anchor="ctr"/>
          <a:lstStyle/>
          <a:p>
            <a:pPr indent="0" marL="0">
              <a:buNone/>
            </a:pPr>
            <a:r>
              <a:rPr lang="en-US" sz="1200" spc="200" kern="0" dirty="0">
                <a:solidFill>
                  <a:srgbClr val="5CC6F5"/>
                </a:solidFill>
                <a:latin typeface="Segoe UI" pitchFamily="34" charset="0"/>
                <a:ea typeface="Segoe UI" pitchFamily="34" charset="-122"/>
                <a:cs typeface="Segoe UI" pitchFamily="34" charset="-120"/>
              </a:rPr>
              <a:t>EN RESUMEN</a:t>
            </a:r>
            <a:endParaRPr lang="en-US" sz="1200" dirty="0"/>
          </a:p>
        </p:txBody>
      </p:sp>
      <p:sp>
        <p:nvSpPr>
          <p:cNvPr id="3" name="Text 1"/>
          <p:cNvSpPr/>
          <p:nvPr/>
        </p:nvSpPr>
        <p:spPr>
          <a:xfrm>
            <a:off x="640080" y="1371600"/>
            <a:ext cx="10058400" cy="164592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Segoe UI" pitchFamily="34" charset="0"/>
                <a:ea typeface="Segoe UI" pitchFamily="34" charset="-122"/>
                <a:cs typeface="Segoe UI" pitchFamily="34" charset="-120"/>
              </a:rPr>
              <a:t>Un agente de producción</a:t>
            </a:r>
            <a:endParaRPr lang="en-US" sz="3800" dirty="0"/>
          </a:p>
          <a:p>
            <a:pPr indent="0" marL="0">
              <a:lnSpc>
                <a:spcPct val="110000"/>
              </a:lnSpc>
              <a:buNone/>
            </a:pPr>
            <a:r>
              <a:rPr lang="en-US" sz="3800" b="1" dirty="0">
                <a:solidFill>
                  <a:srgbClr val="FFFFFF"/>
                </a:solidFill>
                <a:latin typeface="Segoe UI" pitchFamily="34" charset="0"/>
                <a:ea typeface="Segoe UI" pitchFamily="34" charset="-122"/>
                <a:cs typeface="Segoe UI" pitchFamily="34" charset="-120"/>
              </a:rPr>
              <a:t>no es una caja negra</a:t>
            </a:r>
            <a:endParaRPr lang="en-US" sz="3800" dirty="0"/>
          </a:p>
        </p:txBody>
      </p:sp>
      <p:sp>
        <p:nvSpPr>
          <p:cNvPr id="4" name="Shape 2"/>
          <p:cNvSpPr/>
          <p:nvPr/>
        </p:nvSpPr>
        <p:spPr>
          <a:xfrm>
            <a:off x="640080" y="3429000"/>
            <a:ext cx="3063240" cy="0"/>
          </a:xfrm>
          <a:prstGeom prst="line">
            <a:avLst/>
          </a:prstGeom>
          <a:noFill/>
          <a:ln w="25400">
            <a:solidFill>
              <a:srgbClr val="00BBC3"/>
            </a:solidFill>
            <a:prstDash val="solid"/>
          </a:ln>
        </p:spPr>
      </p:sp>
      <p:sp>
        <p:nvSpPr>
          <p:cNvPr id="5" name="Text 3"/>
          <p:cNvSpPr/>
          <p:nvPr/>
        </p:nvSpPr>
        <p:spPr>
          <a:xfrm>
            <a:off x="640080" y="3566160"/>
            <a:ext cx="3063240" cy="365760"/>
          </a:xfrm>
          <a:prstGeom prst="rect">
            <a:avLst/>
          </a:prstGeom>
          <a:noFill/>
          <a:ln/>
        </p:spPr>
        <p:txBody>
          <a:bodyPr wrap="square" lIns="0" tIns="0" rIns="0" bIns="0"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Build</a:t>
            </a:r>
            <a:endParaRPr lang="en-US" sz="1800" dirty="0"/>
          </a:p>
        </p:txBody>
      </p:sp>
      <p:sp>
        <p:nvSpPr>
          <p:cNvPr id="6" name="Text 4"/>
          <p:cNvSpPr/>
          <p:nvPr/>
        </p:nvSpPr>
        <p:spPr>
          <a:xfrm>
            <a:off x="640080" y="3977640"/>
            <a:ext cx="3063240" cy="1188720"/>
          </a:xfrm>
          <a:prstGeom prst="rect">
            <a:avLst/>
          </a:prstGeom>
          <a:noFill/>
          <a:ln/>
        </p:spPr>
        <p:txBody>
          <a:bodyPr wrap="square" lIns="0" tIns="0" rIns="0" bIns="0" rtlCol="0" anchor="ctr"/>
          <a:lstStyle/>
          <a:p>
            <a:pPr indent="0" marL="0">
              <a:buNone/>
            </a:pPr>
            <a:r>
              <a:rPr lang="en-US" sz="1250" dirty="0">
                <a:solidFill>
                  <a:srgbClr val="CFE3FA"/>
                </a:solidFill>
                <a:latin typeface="Segoe UI" pitchFamily="34" charset="0"/>
                <a:ea typeface="Segoe UI" pitchFamily="34" charset="-122"/>
                <a:cs typeface="Segoe UI" pitchFamily="34" charset="-120"/>
              </a:rPr>
              <a:t>Se construye en minutos con conocimiento empresarial real conectado.</a:t>
            </a:r>
            <a:endParaRPr lang="en-US" sz="1250" dirty="0"/>
          </a:p>
        </p:txBody>
      </p:sp>
      <p:sp>
        <p:nvSpPr>
          <p:cNvPr id="7" name="Shape 5"/>
          <p:cNvSpPr/>
          <p:nvPr/>
        </p:nvSpPr>
        <p:spPr>
          <a:xfrm>
            <a:off x="4069080" y="3429000"/>
            <a:ext cx="3063240" cy="0"/>
          </a:xfrm>
          <a:prstGeom prst="line">
            <a:avLst/>
          </a:prstGeom>
          <a:noFill/>
          <a:ln w="25400">
            <a:solidFill>
              <a:srgbClr val="00BBC3"/>
            </a:solidFill>
            <a:prstDash val="solid"/>
          </a:ln>
        </p:spPr>
      </p:sp>
      <p:sp>
        <p:nvSpPr>
          <p:cNvPr id="8" name="Text 6"/>
          <p:cNvSpPr/>
          <p:nvPr/>
        </p:nvSpPr>
        <p:spPr>
          <a:xfrm>
            <a:off x="4069080" y="3566160"/>
            <a:ext cx="3063240" cy="365760"/>
          </a:xfrm>
          <a:prstGeom prst="rect">
            <a:avLst/>
          </a:prstGeom>
          <a:noFill/>
          <a:ln/>
        </p:spPr>
        <p:txBody>
          <a:bodyPr wrap="square" lIns="0" tIns="0" rIns="0" bIns="0"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Observe</a:t>
            </a:r>
            <a:endParaRPr lang="en-US" sz="1800" dirty="0"/>
          </a:p>
        </p:txBody>
      </p:sp>
      <p:sp>
        <p:nvSpPr>
          <p:cNvPr id="9" name="Text 7"/>
          <p:cNvSpPr/>
          <p:nvPr/>
        </p:nvSpPr>
        <p:spPr>
          <a:xfrm>
            <a:off x="4069080" y="3977640"/>
            <a:ext cx="3063240" cy="1188720"/>
          </a:xfrm>
          <a:prstGeom prst="rect">
            <a:avLst/>
          </a:prstGeom>
          <a:noFill/>
          <a:ln/>
        </p:spPr>
        <p:txBody>
          <a:bodyPr wrap="square" lIns="0" tIns="0" rIns="0" bIns="0" rtlCol="0" anchor="ctr"/>
          <a:lstStyle/>
          <a:p>
            <a:pPr indent="0" marL="0">
              <a:buNone/>
            </a:pPr>
            <a:r>
              <a:rPr lang="en-US" sz="1250" dirty="0">
                <a:solidFill>
                  <a:srgbClr val="CFE3FA"/>
                </a:solidFill>
                <a:latin typeface="Segoe UI" pitchFamily="34" charset="0"/>
                <a:ea typeface="Segoe UI" pitchFamily="34" charset="-122"/>
                <a:cs typeface="Segoe UI" pitchFamily="34" charset="-120"/>
              </a:rPr>
              <a:t>Cada respuesta es trazable (Traces) y cada ejecución es medible en costo (Monitor).</a:t>
            </a:r>
            <a:endParaRPr lang="en-US" sz="1250" dirty="0"/>
          </a:p>
        </p:txBody>
      </p:sp>
      <p:sp>
        <p:nvSpPr>
          <p:cNvPr id="10" name="Shape 8"/>
          <p:cNvSpPr/>
          <p:nvPr/>
        </p:nvSpPr>
        <p:spPr>
          <a:xfrm>
            <a:off x="7498080" y="3429000"/>
            <a:ext cx="3063240" cy="0"/>
          </a:xfrm>
          <a:prstGeom prst="line">
            <a:avLst/>
          </a:prstGeom>
          <a:noFill/>
          <a:ln w="25400">
            <a:solidFill>
              <a:srgbClr val="00BBC3"/>
            </a:solidFill>
            <a:prstDash val="solid"/>
          </a:ln>
        </p:spPr>
      </p:sp>
      <p:sp>
        <p:nvSpPr>
          <p:cNvPr id="11" name="Text 9"/>
          <p:cNvSpPr/>
          <p:nvPr/>
        </p:nvSpPr>
        <p:spPr>
          <a:xfrm>
            <a:off x="7498080" y="3566160"/>
            <a:ext cx="3063240" cy="365760"/>
          </a:xfrm>
          <a:prstGeom prst="rect">
            <a:avLst/>
          </a:prstGeom>
          <a:noFill/>
          <a:ln/>
        </p:spPr>
        <p:txBody>
          <a:bodyPr wrap="square" lIns="0" tIns="0" rIns="0" bIns="0"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Tune</a:t>
            </a:r>
            <a:endParaRPr lang="en-US" sz="1800" dirty="0"/>
          </a:p>
        </p:txBody>
      </p:sp>
      <p:sp>
        <p:nvSpPr>
          <p:cNvPr id="12" name="Text 10"/>
          <p:cNvSpPr/>
          <p:nvPr/>
        </p:nvSpPr>
        <p:spPr>
          <a:xfrm>
            <a:off x="7498080" y="3977640"/>
            <a:ext cx="3063240" cy="1188720"/>
          </a:xfrm>
          <a:prstGeom prst="rect">
            <a:avLst/>
          </a:prstGeom>
          <a:noFill/>
          <a:ln/>
        </p:spPr>
        <p:txBody>
          <a:bodyPr wrap="square" lIns="0" tIns="0" rIns="0" bIns="0" rtlCol="0" anchor="ctr"/>
          <a:lstStyle/>
          <a:p>
            <a:pPr indent="0" marL="0">
              <a:buNone/>
            </a:pPr>
            <a:r>
              <a:rPr lang="en-US" sz="1250" dirty="0">
                <a:solidFill>
                  <a:srgbClr val="CFE3FA"/>
                </a:solidFill>
                <a:latin typeface="Segoe UI" pitchFamily="34" charset="0"/>
                <a:ea typeface="Segoe UI" pitchFamily="34" charset="-122"/>
                <a:cs typeface="Segoe UI" pitchFamily="34" charset="-120"/>
              </a:rPr>
              <a:t>La calidad se certifica con una rúbrica repetible — no a simple vista.</a:t>
            </a:r>
            <a:endParaRPr lang="en-US" sz="1250" dirty="0"/>
          </a:p>
        </p:txBody>
      </p:sp>
      <p:sp>
        <p:nvSpPr>
          <p:cNvPr id="13" name="Text 11"/>
          <p:cNvSpPr/>
          <p:nvPr/>
        </p:nvSpPr>
        <p:spPr>
          <a:xfrm>
            <a:off x="640080" y="5760720"/>
            <a:ext cx="10058400" cy="548640"/>
          </a:xfrm>
          <a:prstGeom prst="rect">
            <a:avLst/>
          </a:prstGeom>
          <a:noFill/>
          <a:ln/>
        </p:spPr>
        <p:txBody>
          <a:bodyPr wrap="square" lIns="0" tIns="0" rIns="0" bIns="0" rtlCol="0" anchor="ctr"/>
          <a:lstStyle/>
          <a:p>
            <a:pPr indent="0" marL="0">
              <a:buNone/>
            </a:pPr>
            <a:r>
              <a:rPr lang="en-US" sz="1500" i="1" dirty="0">
                <a:solidFill>
                  <a:srgbClr val="A9C2E8"/>
                </a:solidFill>
                <a:latin typeface="Segoe UI" pitchFamily="34" charset="0"/>
                <a:ea typeface="Segoe UI" pitchFamily="34" charset="-122"/>
                <a:cs typeface="Segoe UI" pitchFamily="34" charset="-120"/>
              </a:rPr>
              <a:t>Todo dentro de Microsoft Foundry — sin herramientas adicionales, sin exportar datos a otro sistema.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Invoice Audit Agent - Resumen Ejecutivo</dc:title>
  <dc:subject>Capítulo 2 - Build, Observe &amp; Tune</dc:subject>
  <dc:creator>Jorge Zapata</dc:creator>
  <cp:lastModifiedBy>Jorge Zapata</cp:lastModifiedBy>
  <cp:revision>1</cp:revision>
  <dcterms:created xsi:type="dcterms:W3CDTF">2026-10-23T21:08:27Z</dcterms:created>
  <dcterms:modified xsi:type="dcterms:W3CDTF">2026-10-23T21:08:27Z</dcterms:modified>
</cp:coreProperties>
</file>